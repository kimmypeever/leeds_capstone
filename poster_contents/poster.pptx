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4"/>
  </p:sldMasterIdLst>
  <p:notesMasterIdLst>
    <p:notesMasterId r:id="rId7"/>
  </p:notesMasterIdLst>
  <p:handoutMasterIdLst>
    <p:handoutMasterId r:id="rId8"/>
  </p:handoutMasterIdLst>
  <p:sldIdLst>
    <p:sldId id="302" r:id="rId5"/>
    <p:sldId id="324" r:id="rId6"/>
  </p:sldIdLst>
  <p:sldSz cx="30275213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273"/>
    <a:srgbClr val="39464D"/>
    <a:srgbClr val="00708F"/>
    <a:srgbClr val="910000"/>
    <a:srgbClr val="D1D9E3"/>
    <a:srgbClr val="F3D0D6"/>
    <a:srgbClr val="748EAB"/>
    <a:srgbClr val="AA4A6C"/>
    <a:srgbClr val="E9EAF1"/>
    <a:srgbClr val="B2C0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C12ACF-83C3-4DE1-92AC-5C34A60072D5}" v="176" dt="2025-12-18T15:07:53.9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87"/>
    <p:restoredTop sz="95706" autoAdjust="0"/>
  </p:normalViewPr>
  <p:slideViewPr>
    <p:cSldViewPr snapToGrid="0">
      <p:cViewPr>
        <p:scale>
          <a:sx n="30" d="100"/>
          <a:sy n="30" d="100"/>
        </p:scale>
        <p:origin x="1038" y="456"/>
      </p:cViewPr>
      <p:guideLst/>
    </p:cSldViewPr>
  </p:slideViewPr>
  <p:outlineViewPr>
    <p:cViewPr>
      <p:scale>
        <a:sx n="33" d="100"/>
        <a:sy n="33" d="100"/>
      </p:scale>
      <p:origin x="0" y="-167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6128" y="18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berly Peever" userId="4ab3acbb46b4c3ff" providerId="LiveId" clId="{11FB07D8-E08B-499F-8AF9-144EF1CE0782}"/>
    <pc:docChg chg="undo custSel addSld delSld modSld sldOrd">
      <pc:chgData name="Kimberly Peever" userId="4ab3acbb46b4c3ff" providerId="LiveId" clId="{11FB07D8-E08B-499F-8AF9-144EF1CE0782}" dt="2025-12-18T16:38:29.678" v="1791" actId="20577"/>
      <pc:docMkLst>
        <pc:docMk/>
      </pc:docMkLst>
      <pc:sldChg chg="modSp add mod ord">
        <pc:chgData name="Kimberly Peever" userId="4ab3acbb46b4c3ff" providerId="LiveId" clId="{11FB07D8-E08B-499F-8AF9-144EF1CE0782}" dt="2025-12-18T16:38:29.678" v="1791" actId="20577"/>
        <pc:sldMkLst>
          <pc:docMk/>
          <pc:sldMk cId="3749346091" sldId="302"/>
        </pc:sldMkLst>
        <pc:spChg chg="mod">
          <ac:chgData name="Kimberly Peever" userId="4ab3acbb46b4c3ff" providerId="LiveId" clId="{11FB07D8-E08B-499F-8AF9-144EF1CE0782}" dt="2025-12-18T16:38:29.678" v="1791" actId="20577"/>
          <ac:spMkLst>
            <pc:docMk/>
            <pc:sldMk cId="3749346091" sldId="302"/>
            <ac:spMk id="12" creationId="{08E4D676-B58B-73DB-94AC-ED8C2F568612}"/>
          </ac:spMkLst>
        </pc:spChg>
        <pc:picChg chg="mod">
          <ac:chgData name="Kimberly Peever" userId="4ab3acbb46b4c3ff" providerId="LiveId" clId="{11FB07D8-E08B-499F-8AF9-144EF1CE0782}" dt="2025-12-17T18:29:00.277" v="432" actId="1076"/>
          <ac:picMkLst>
            <pc:docMk/>
            <pc:sldMk cId="3749346091" sldId="302"/>
            <ac:picMk id="4" creationId="{C27D6FB7-7670-E959-5754-E0D0DAEEF1C3}"/>
          </ac:picMkLst>
        </pc:picChg>
      </pc:sldChg>
      <pc:sldChg chg="del">
        <pc:chgData name="Kimberly Peever" userId="4ab3acbb46b4c3ff" providerId="LiveId" clId="{11FB07D8-E08B-499F-8AF9-144EF1CE0782}" dt="2025-12-17T18:31:40.117" v="433" actId="47"/>
        <pc:sldMkLst>
          <pc:docMk/>
          <pc:sldMk cId="2956646258" sldId="315"/>
        </pc:sldMkLst>
      </pc:sldChg>
      <pc:sldChg chg="del">
        <pc:chgData name="Kimberly Peever" userId="4ab3acbb46b4c3ff" providerId="LiveId" clId="{11FB07D8-E08B-499F-8AF9-144EF1CE0782}" dt="2025-12-17T18:32:01.160" v="436" actId="47"/>
        <pc:sldMkLst>
          <pc:docMk/>
          <pc:sldMk cId="1658704089" sldId="316"/>
        </pc:sldMkLst>
      </pc:sldChg>
      <pc:sldChg chg="del">
        <pc:chgData name="Kimberly Peever" userId="4ab3acbb46b4c3ff" providerId="LiveId" clId="{11FB07D8-E08B-499F-8AF9-144EF1CE0782}" dt="2025-12-17T18:31:50.724" v="435" actId="47"/>
        <pc:sldMkLst>
          <pc:docMk/>
          <pc:sldMk cId="1825121446" sldId="317"/>
        </pc:sldMkLst>
      </pc:sldChg>
      <pc:sldChg chg="del">
        <pc:chgData name="Kimberly Peever" userId="4ab3acbb46b4c3ff" providerId="LiveId" clId="{11FB07D8-E08B-499F-8AF9-144EF1CE0782}" dt="2025-12-17T20:33:27.561" v="1718" actId="47"/>
        <pc:sldMkLst>
          <pc:docMk/>
          <pc:sldMk cId="4064942265" sldId="318"/>
        </pc:sldMkLst>
      </pc:sldChg>
      <pc:sldChg chg="del">
        <pc:chgData name="Kimberly Peever" userId="4ab3acbb46b4c3ff" providerId="LiveId" clId="{11FB07D8-E08B-499F-8AF9-144EF1CE0782}" dt="2025-12-17T18:31:49.770" v="434" actId="47"/>
        <pc:sldMkLst>
          <pc:docMk/>
          <pc:sldMk cId="1814516316" sldId="319"/>
        </pc:sldMkLst>
      </pc:sldChg>
      <pc:sldChg chg="del">
        <pc:chgData name="Kimberly Peever" userId="4ab3acbb46b4c3ff" providerId="LiveId" clId="{11FB07D8-E08B-499F-8AF9-144EF1CE0782}" dt="2025-12-17T18:32:01.589" v="437" actId="47"/>
        <pc:sldMkLst>
          <pc:docMk/>
          <pc:sldMk cId="3175983072" sldId="320"/>
        </pc:sldMkLst>
      </pc:sldChg>
      <pc:sldChg chg="del">
        <pc:chgData name="Kimberly Peever" userId="4ab3acbb46b4c3ff" providerId="LiveId" clId="{11FB07D8-E08B-499F-8AF9-144EF1CE0782}" dt="2025-12-17T18:32:04.939" v="438" actId="47"/>
        <pc:sldMkLst>
          <pc:docMk/>
          <pc:sldMk cId="2910475642" sldId="321"/>
        </pc:sldMkLst>
      </pc:sldChg>
      <pc:sldChg chg="del">
        <pc:chgData name="Kimberly Peever" userId="4ab3acbb46b4c3ff" providerId="LiveId" clId="{11FB07D8-E08B-499F-8AF9-144EF1CE0782}" dt="2025-12-17T20:33:26.188" v="1717" actId="47"/>
        <pc:sldMkLst>
          <pc:docMk/>
          <pc:sldMk cId="695087844" sldId="322"/>
        </pc:sldMkLst>
      </pc:sldChg>
      <pc:sldChg chg="del">
        <pc:chgData name="Kimberly Peever" userId="4ab3acbb46b4c3ff" providerId="LiveId" clId="{11FB07D8-E08B-499F-8AF9-144EF1CE0782}" dt="2025-12-17T18:32:06.706" v="439" actId="47"/>
        <pc:sldMkLst>
          <pc:docMk/>
          <pc:sldMk cId="3604462344" sldId="323"/>
        </pc:sldMkLst>
      </pc:sldChg>
      <pc:sldChg chg="addSp delSp modSp add del mod setBg modNotesTx">
        <pc:chgData name="Kimberly Peever" userId="4ab3acbb46b4c3ff" providerId="LiveId" clId="{11FB07D8-E08B-499F-8AF9-144EF1CE0782}" dt="2025-12-18T16:05:07.297" v="1767" actId="20577"/>
        <pc:sldMkLst>
          <pc:docMk/>
          <pc:sldMk cId="2173335025" sldId="324"/>
        </pc:sldMkLst>
        <pc:spChg chg="mod">
          <ac:chgData name="Kimberly Peever" userId="4ab3acbb46b4c3ff" providerId="LiveId" clId="{11FB07D8-E08B-499F-8AF9-144EF1CE0782}" dt="2025-12-17T19:10:03.797" v="683" actId="14100"/>
          <ac:spMkLst>
            <pc:docMk/>
            <pc:sldMk cId="2173335025" sldId="324"/>
            <ac:spMk id="2" creationId="{FC62A89D-A40C-5D51-BE5C-20E5E1C806B9}"/>
          </ac:spMkLst>
        </pc:spChg>
        <pc:spChg chg="mod">
          <ac:chgData name="Kimberly Peever" userId="4ab3acbb46b4c3ff" providerId="LiveId" clId="{11FB07D8-E08B-499F-8AF9-144EF1CE0782}" dt="2025-12-16T00:40:00.113" v="83" actId="20577"/>
          <ac:spMkLst>
            <pc:docMk/>
            <pc:sldMk cId="2173335025" sldId="324"/>
            <ac:spMk id="3" creationId="{599F30F3-21DC-0E6D-7C2E-EA4083D8F472}"/>
          </ac:spMkLst>
        </pc:spChg>
        <pc:spChg chg="mod">
          <ac:chgData name="Kimberly Peever" userId="4ab3acbb46b4c3ff" providerId="LiveId" clId="{11FB07D8-E08B-499F-8AF9-144EF1CE0782}" dt="2025-12-18T16:05:07.297" v="1767" actId="20577"/>
          <ac:spMkLst>
            <pc:docMk/>
            <pc:sldMk cId="2173335025" sldId="324"/>
            <ac:spMk id="4" creationId="{316DA30C-4A37-139B-8C44-1C8E2DED7C3A}"/>
          </ac:spMkLst>
        </pc:spChg>
        <pc:spChg chg="mod">
          <ac:chgData name="Kimberly Peever" userId="4ab3acbb46b4c3ff" providerId="LiveId" clId="{11FB07D8-E08B-499F-8AF9-144EF1CE0782}" dt="2025-12-17T04:16:18.884" v="337" actId="14100"/>
          <ac:spMkLst>
            <pc:docMk/>
            <pc:sldMk cId="2173335025" sldId="324"/>
            <ac:spMk id="5" creationId="{9159DAC4-87E8-0DA0-2D76-593A07587ACC}"/>
          </ac:spMkLst>
        </pc:spChg>
        <pc:spChg chg="mod">
          <ac:chgData name="Kimberly Peever" userId="4ab3acbb46b4c3ff" providerId="LiveId" clId="{11FB07D8-E08B-499F-8AF9-144EF1CE0782}" dt="2025-12-17T04:40:21.298" v="414" actId="1076"/>
          <ac:spMkLst>
            <pc:docMk/>
            <pc:sldMk cId="2173335025" sldId="324"/>
            <ac:spMk id="6" creationId="{2A5FF93E-4D46-DF5E-AFB9-7FFE21C57E2B}"/>
          </ac:spMkLst>
        </pc:spChg>
        <pc:spChg chg="mod">
          <ac:chgData name="Kimberly Peever" userId="4ab3acbb46b4c3ff" providerId="LiveId" clId="{11FB07D8-E08B-499F-8AF9-144EF1CE0782}" dt="2025-12-18T15:14:57.837" v="1752" actId="20577"/>
          <ac:spMkLst>
            <pc:docMk/>
            <pc:sldMk cId="2173335025" sldId="324"/>
            <ac:spMk id="7" creationId="{7B414F8A-79C4-C863-263A-27B7E1E2D63B}"/>
          </ac:spMkLst>
        </pc:spChg>
        <pc:spChg chg="mod">
          <ac:chgData name="Kimberly Peever" userId="4ab3acbb46b4c3ff" providerId="LiveId" clId="{11FB07D8-E08B-499F-8AF9-144EF1CE0782}" dt="2025-12-17T18:47:52.886" v="588" actId="1076"/>
          <ac:spMkLst>
            <pc:docMk/>
            <pc:sldMk cId="2173335025" sldId="324"/>
            <ac:spMk id="12" creationId="{50B5D55A-C4D4-CB72-0DBF-E01DFCE0ACE9}"/>
          </ac:spMkLst>
        </pc:spChg>
        <pc:spChg chg="mod">
          <ac:chgData name="Kimberly Peever" userId="4ab3acbb46b4c3ff" providerId="LiveId" clId="{11FB07D8-E08B-499F-8AF9-144EF1CE0782}" dt="2025-12-17T19:11:51.661" v="699" actId="1076"/>
          <ac:spMkLst>
            <pc:docMk/>
            <pc:sldMk cId="2173335025" sldId="324"/>
            <ac:spMk id="14" creationId="{923CE5FB-704B-12F4-7B76-56DD484B41CE}"/>
          </ac:spMkLst>
        </pc:spChg>
        <pc:spChg chg="mod">
          <ac:chgData name="Kimberly Peever" userId="4ab3acbb46b4c3ff" providerId="LiveId" clId="{11FB07D8-E08B-499F-8AF9-144EF1CE0782}" dt="2025-12-17T19:10:48.439" v="687" actId="1076"/>
          <ac:spMkLst>
            <pc:docMk/>
            <pc:sldMk cId="2173335025" sldId="324"/>
            <ac:spMk id="15" creationId="{E08005AA-1F33-8499-11BE-9E5F6EA9BFA4}"/>
          </ac:spMkLst>
        </pc:spChg>
        <pc:spChg chg="mod">
          <ac:chgData name="Kimberly Peever" userId="4ab3acbb46b4c3ff" providerId="LiveId" clId="{11FB07D8-E08B-499F-8AF9-144EF1CE0782}" dt="2025-12-18T15:49:10.863" v="1763" actId="20577"/>
          <ac:spMkLst>
            <pc:docMk/>
            <pc:sldMk cId="2173335025" sldId="324"/>
            <ac:spMk id="16" creationId="{0315F55B-D992-D4C7-576F-6CF46A137F1C}"/>
          </ac:spMkLst>
        </pc:spChg>
        <pc:spChg chg="mod">
          <ac:chgData name="Kimberly Peever" userId="4ab3acbb46b4c3ff" providerId="LiveId" clId="{11FB07D8-E08B-499F-8AF9-144EF1CE0782}" dt="2025-12-16T00:31:21.265" v="72"/>
          <ac:spMkLst>
            <pc:docMk/>
            <pc:sldMk cId="2173335025" sldId="324"/>
            <ac:spMk id="17" creationId="{4DDE1704-DC39-379A-FF62-2792C4754F7C}"/>
          </ac:spMkLst>
        </pc:spChg>
        <pc:spChg chg="mod">
          <ac:chgData name="Kimberly Peever" userId="4ab3acbb46b4c3ff" providerId="LiveId" clId="{11FB07D8-E08B-499F-8AF9-144EF1CE0782}" dt="2025-12-17T19:14:55.419" v="717" actId="1076"/>
          <ac:spMkLst>
            <pc:docMk/>
            <pc:sldMk cId="2173335025" sldId="324"/>
            <ac:spMk id="20" creationId="{298E243F-5C17-44A9-7029-FD1C91273E9E}"/>
          </ac:spMkLst>
        </pc:spChg>
        <pc:spChg chg="mod">
          <ac:chgData name="Kimberly Peever" userId="4ab3acbb46b4c3ff" providerId="LiveId" clId="{11FB07D8-E08B-499F-8AF9-144EF1CE0782}" dt="2025-12-17T21:15:54.795" v="1730" actId="113"/>
          <ac:spMkLst>
            <pc:docMk/>
            <pc:sldMk cId="2173335025" sldId="324"/>
            <ac:spMk id="21" creationId="{7125E974-DFE7-8078-3F32-849CD19F90A1}"/>
          </ac:spMkLst>
        </pc:spChg>
        <pc:spChg chg="mod">
          <ac:chgData name="Kimberly Peever" userId="4ab3acbb46b4c3ff" providerId="LiveId" clId="{11FB07D8-E08B-499F-8AF9-144EF1CE0782}" dt="2025-12-17T20:24:32.990" v="1705" actId="20577"/>
          <ac:spMkLst>
            <pc:docMk/>
            <pc:sldMk cId="2173335025" sldId="324"/>
            <ac:spMk id="22" creationId="{33810727-0433-B8BC-9216-0EF2007402C7}"/>
          </ac:spMkLst>
        </pc:spChg>
        <pc:spChg chg="mod">
          <ac:chgData name="Kimberly Peever" userId="4ab3acbb46b4c3ff" providerId="LiveId" clId="{11FB07D8-E08B-499F-8AF9-144EF1CE0782}" dt="2025-12-17T04:16:41.917" v="340" actId="14100"/>
          <ac:spMkLst>
            <pc:docMk/>
            <pc:sldMk cId="2173335025" sldId="324"/>
            <ac:spMk id="28" creationId="{37CD5601-3DBC-6709-B9AF-FC6A4D506C72}"/>
          </ac:spMkLst>
        </pc:spChg>
        <pc:spChg chg="mod">
          <ac:chgData name="Kimberly Peever" userId="4ab3acbb46b4c3ff" providerId="LiveId" clId="{11FB07D8-E08B-499F-8AF9-144EF1CE0782}" dt="2025-12-16T00:41:21.418" v="96" actId="20577"/>
          <ac:spMkLst>
            <pc:docMk/>
            <pc:sldMk cId="2173335025" sldId="324"/>
            <ac:spMk id="29" creationId="{0A34DE43-EC67-A26E-96D3-BCBEB321B68D}"/>
          </ac:spMkLst>
        </pc:spChg>
        <pc:spChg chg="add del mod">
          <ac:chgData name="Kimberly Peever" userId="4ab3acbb46b4c3ff" providerId="LiveId" clId="{11FB07D8-E08B-499F-8AF9-144EF1CE0782}" dt="2025-12-17T19:33:43.446" v="1691" actId="6549"/>
          <ac:spMkLst>
            <pc:docMk/>
            <pc:sldMk cId="2173335025" sldId="324"/>
            <ac:spMk id="30" creationId="{4F8EDAF8-9F09-B328-5A9D-FC4ECDED4F20}"/>
          </ac:spMkLst>
        </pc:spChg>
        <pc:spChg chg="add mod">
          <ac:chgData name="Kimberly Peever" userId="4ab3acbb46b4c3ff" providerId="LiveId" clId="{11FB07D8-E08B-499F-8AF9-144EF1CE0782}" dt="2025-12-17T19:11:46.149" v="697" actId="1076"/>
          <ac:spMkLst>
            <pc:docMk/>
            <pc:sldMk cId="2173335025" sldId="324"/>
            <ac:spMk id="33" creationId="{BD636135-24D6-B6B4-EE1F-DED597BF31D0}"/>
          </ac:spMkLst>
        </pc:spChg>
        <pc:spChg chg="add mod">
          <ac:chgData name="Kimberly Peever" userId="4ab3acbb46b4c3ff" providerId="LiveId" clId="{11FB07D8-E08B-499F-8AF9-144EF1CE0782}" dt="2025-12-17T20:33:42.075" v="1719" actId="1076"/>
          <ac:spMkLst>
            <pc:docMk/>
            <pc:sldMk cId="2173335025" sldId="324"/>
            <ac:spMk id="36" creationId="{FB4F5A72-1BC4-1ACB-8B56-F50CF1C290E2}"/>
          </ac:spMkLst>
        </pc:spChg>
        <pc:spChg chg="add del mod">
          <ac:chgData name="Kimberly Peever" userId="4ab3acbb46b4c3ff" providerId="LiveId" clId="{11FB07D8-E08B-499F-8AF9-144EF1CE0782}" dt="2025-12-17T03:38:43.306" v="274"/>
          <ac:spMkLst>
            <pc:docMk/>
            <pc:sldMk cId="2173335025" sldId="324"/>
            <ac:spMk id="37" creationId="{5479F000-5592-2F39-1CE3-DE35C5E4EF06}"/>
          </ac:spMkLst>
        </pc:spChg>
        <pc:spChg chg="mod">
          <ac:chgData name="Kimberly Peever" userId="4ab3acbb46b4c3ff" providerId="LiveId" clId="{11FB07D8-E08B-499F-8AF9-144EF1CE0782}" dt="2025-12-16T00:31:02.354" v="71"/>
          <ac:spMkLst>
            <pc:docMk/>
            <pc:sldMk cId="2173335025" sldId="324"/>
            <ac:spMk id="38" creationId="{E4DEFB08-8A0E-7CEC-D468-16435FB99486}"/>
          </ac:spMkLst>
        </pc:spChg>
        <pc:spChg chg="add del mod">
          <ac:chgData name="Kimberly Peever" userId="4ab3acbb46b4c3ff" providerId="LiveId" clId="{11FB07D8-E08B-499F-8AF9-144EF1CE0782}" dt="2025-12-17T04:28:42.945" v="376" actId="478"/>
          <ac:spMkLst>
            <pc:docMk/>
            <pc:sldMk cId="2173335025" sldId="324"/>
            <ac:spMk id="39" creationId="{89148EEA-9D25-DAF4-BE4D-492C73D2F4CE}"/>
          </ac:spMkLst>
        </pc:spChg>
        <pc:spChg chg="add del mod">
          <ac:chgData name="Kimberly Peever" userId="4ab3acbb46b4c3ff" providerId="LiveId" clId="{11FB07D8-E08B-499F-8AF9-144EF1CE0782}" dt="2025-12-17T04:28:36.019" v="375" actId="478"/>
          <ac:spMkLst>
            <pc:docMk/>
            <pc:sldMk cId="2173335025" sldId="324"/>
            <ac:spMk id="40" creationId="{44CB282B-3F79-1F32-A674-ACDDB9D22105}"/>
          </ac:spMkLst>
        </pc:spChg>
        <pc:spChg chg="add mod">
          <ac:chgData name="Kimberly Peever" userId="4ab3acbb46b4c3ff" providerId="LiveId" clId="{11FB07D8-E08B-499F-8AF9-144EF1CE0782}" dt="2025-12-18T15:00:28.428" v="1739" actId="207"/>
          <ac:spMkLst>
            <pc:docMk/>
            <pc:sldMk cId="2173335025" sldId="324"/>
            <ac:spMk id="41" creationId="{3DF21FAE-7BFD-18FF-E0B7-69FE076CEE73}"/>
          </ac:spMkLst>
        </pc:spChg>
        <pc:spChg chg="add mod ord">
          <ac:chgData name="Kimberly Peever" userId="4ab3acbb46b4c3ff" providerId="LiveId" clId="{11FB07D8-E08B-499F-8AF9-144EF1CE0782}" dt="2025-12-17T04:30:10.238" v="390" actId="21"/>
          <ac:spMkLst>
            <pc:docMk/>
            <pc:sldMk cId="2173335025" sldId="324"/>
            <ac:spMk id="42" creationId="{6B27F08E-B2E9-65C2-9DAA-F7A24DAA6EC7}"/>
          </ac:spMkLst>
        </pc:spChg>
        <pc:spChg chg="add mod">
          <ac:chgData name="Kimberly Peever" userId="4ab3acbb46b4c3ff" providerId="LiveId" clId="{11FB07D8-E08B-499F-8AF9-144EF1CE0782}" dt="2025-12-17T04:33:57.701" v="405" actId="207"/>
          <ac:spMkLst>
            <pc:docMk/>
            <pc:sldMk cId="2173335025" sldId="324"/>
            <ac:spMk id="43" creationId="{97CDBDCD-14EF-8B09-CDF2-145F624662DD}"/>
          </ac:spMkLst>
        </pc:spChg>
        <pc:spChg chg="add mod">
          <ac:chgData name="Kimberly Peever" userId="4ab3acbb46b4c3ff" providerId="LiveId" clId="{11FB07D8-E08B-499F-8AF9-144EF1CE0782}" dt="2025-12-17T20:33:55.879" v="1720" actId="1076"/>
          <ac:spMkLst>
            <pc:docMk/>
            <pc:sldMk cId="2173335025" sldId="324"/>
            <ac:spMk id="44" creationId="{94769C55-5E0F-5375-C45E-8D089E59A401}"/>
          </ac:spMkLst>
        </pc:spChg>
        <pc:spChg chg="add mod">
          <ac:chgData name="Kimberly Peever" userId="4ab3acbb46b4c3ff" providerId="LiveId" clId="{11FB07D8-E08B-499F-8AF9-144EF1CE0782}" dt="2025-12-18T14:55:47.925" v="1734" actId="1076"/>
          <ac:spMkLst>
            <pc:docMk/>
            <pc:sldMk cId="2173335025" sldId="324"/>
            <ac:spMk id="45" creationId="{4912F9B1-A131-F9FB-2DA1-D7CE56A19D75}"/>
          </ac:spMkLst>
        </pc:spChg>
        <pc:spChg chg="add mod">
          <ac:chgData name="Kimberly Peever" userId="4ab3acbb46b4c3ff" providerId="LiveId" clId="{11FB07D8-E08B-499F-8AF9-144EF1CE0782}" dt="2025-12-17T19:14:50.841" v="715" actId="20577"/>
          <ac:spMkLst>
            <pc:docMk/>
            <pc:sldMk cId="2173335025" sldId="324"/>
            <ac:spMk id="46" creationId="{B64EC498-4922-2C86-44CB-A818C3C3DFA7}"/>
          </ac:spMkLst>
        </pc:spChg>
        <pc:spChg chg="add mod">
          <ac:chgData name="Kimberly Peever" userId="4ab3acbb46b4c3ff" providerId="LiveId" clId="{11FB07D8-E08B-499F-8AF9-144EF1CE0782}" dt="2025-12-17T19:15:56.267" v="725" actId="14100"/>
          <ac:spMkLst>
            <pc:docMk/>
            <pc:sldMk cId="2173335025" sldId="324"/>
            <ac:spMk id="47" creationId="{CD026CB8-D8B7-5CBC-3C3E-BD06C805F4EC}"/>
          </ac:spMkLst>
        </pc:spChg>
        <pc:spChg chg="add mod">
          <ac:chgData name="Kimberly Peever" userId="4ab3acbb46b4c3ff" providerId="LiveId" clId="{11FB07D8-E08B-499F-8AF9-144EF1CE0782}" dt="2025-12-17T19:16:25.295" v="727" actId="14100"/>
          <ac:spMkLst>
            <pc:docMk/>
            <pc:sldMk cId="2173335025" sldId="324"/>
            <ac:spMk id="48" creationId="{C399BCA1-BDAB-15D1-9E91-761823DBB147}"/>
          </ac:spMkLst>
        </pc:spChg>
        <pc:spChg chg="add mod">
          <ac:chgData name="Kimberly Peever" userId="4ab3acbb46b4c3ff" providerId="LiveId" clId="{11FB07D8-E08B-499F-8AF9-144EF1CE0782}" dt="2025-12-17T19:30:58.812" v="1157" actId="1076"/>
          <ac:spMkLst>
            <pc:docMk/>
            <pc:sldMk cId="2173335025" sldId="324"/>
            <ac:spMk id="49" creationId="{1445582E-C48F-CA11-8B02-B1E18FF8232E}"/>
          </ac:spMkLst>
        </pc:spChg>
        <pc:spChg chg="add mod">
          <ac:chgData name="Kimberly Peever" userId="4ab3acbb46b4c3ff" providerId="LiveId" clId="{11FB07D8-E08B-499F-8AF9-144EF1CE0782}" dt="2025-12-17T19:32:54.102" v="1688" actId="14100"/>
          <ac:spMkLst>
            <pc:docMk/>
            <pc:sldMk cId="2173335025" sldId="324"/>
            <ac:spMk id="50" creationId="{B568482A-0B90-6C1C-0920-EC6CBD1C3868}"/>
          </ac:spMkLst>
        </pc:spChg>
        <pc:picChg chg="add mod">
          <ac:chgData name="Kimberly Peever" userId="4ab3acbb46b4c3ff" providerId="LiveId" clId="{11FB07D8-E08B-499F-8AF9-144EF1CE0782}" dt="2025-12-18T14:55:51.517" v="1735" actId="1076"/>
          <ac:picMkLst>
            <pc:docMk/>
            <pc:sldMk cId="2173335025" sldId="324"/>
            <ac:picMk id="11" creationId="{8EA6D7F2-677D-08B7-14A6-D9F8A1DFDDB9}"/>
          </ac:picMkLst>
        </pc:picChg>
        <pc:picChg chg="add mod">
          <ac:chgData name="Kimberly Peever" userId="4ab3acbb46b4c3ff" providerId="LiveId" clId="{11FB07D8-E08B-499F-8AF9-144EF1CE0782}" dt="2025-12-17T19:15:36.489" v="721" actId="1076"/>
          <ac:picMkLst>
            <pc:docMk/>
            <pc:sldMk cId="2173335025" sldId="324"/>
            <ac:picMk id="18" creationId="{31EADDBD-1F14-B3B1-4C0D-422D673AAE9E}"/>
          </ac:picMkLst>
        </pc:picChg>
        <pc:picChg chg="add mod">
          <ac:chgData name="Kimberly Peever" userId="4ab3acbb46b4c3ff" providerId="LiveId" clId="{11FB07D8-E08B-499F-8AF9-144EF1CE0782}" dt="2025-12-17T19:31:06.713" v="1158" actId="1076"/>
          <ac:picMkLst>
            <pc:docMk/>
            <pc:sldMk cId="2173335025" sldId="324"/>
            <ac:picMk id="23" creationId="{13AF7DE6-A90C-2457-BC43-0E694853CC02}"/>
          </ac:picMkLst>
        </pc:picChg>
        <pc:picChg chg="add mod">
          <ac:chgData name="Kimberly Peever" userId="4ab3acbb46b4c3ff" providerId="LiveId" clId="{11FB07D8-E08B-499F-8AF9-144EF1CE0782}" dt="2025-12-17T19:15:46.778" v="723" actId="1076"/>
          <ac:picMkLst>
            <pc:docMk/>
            <pc:sldMk cId="2173335025" sldId="324"/>
            <ac:picMk id="25" creationId="{737929B0-DC71-A5E5-72D9-23BF68113BED}"/>
          </ac:picMkLst>
        </pc:picChg>
        <pc:picChg chg="add del mod">
          <ac:chgData name="Kimberly Peever" userId="4ab3acbb46b4c3ff" providerId="LiveId" clId="{11FB07D8-E08B-499F-8AF9-144EF1CE0782}" dt="2025-12-17T02:12:04.928" v="204" actId="478"/>
          <ac:picMkLst>
            <pc:docMk/>
            <pc:sldMk cId="2173335025" sldId="324"/>
            <ac:picMk id="27" creationId="{872ED333-C7F7-EC2B-671F-BA887BCE5D0C}"/>
          </ac:picMkLst>
        </pc:picChg>
        <pc:picChg chg="add mod">
          <ac:chgData name="Kimberly Peever" userId="4ab3acbb46b4c3ff" providerId="LiveId" clId="{11FB07D8-E08B-499F-8AF9-144EF1CE0782}" dt="2025-12-17T19:30:49.156" v="1156" actId="1076"/>
          <ac:picMkLst>
            <pc:docMk/>
            <pc:sldMk cId="2173335025" sldId="324"/>
            <ac:picMk id="32" creationId="{76F54EF7-171C-F2D7-DB36-8CA9922559DE}"/>
          </ac:picMkLst>
        </pc:picChg>
        <pc:picChg chg="add mod">
          <ac:chgData name="Kimberly Peever" userId="4ab3acbb46b4c3ff" providerId="LiveId" clId="{11FB07D8-E08B-499F-8AF9-144EF1CE0782}" dt="2025-12-17T20:34:13.657" v="1722" actId="1076"/>
          <ac:picMkLst>
            <pc:docMk/>
            <pc:sldMk cId="2173335025" sldId="324"/>
            <ac:picMk id="35" creationId="{F18B380C-A5B7-EB5F-D824-4DBBC499AC5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067B9C-327B-70C9-2008-B74A2B3625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157291-84CA-C0AC-0396-512BA7B26E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4D22F-1386-AA46-A45C-1E4F8658805E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A24041-C72D-9DBB-E8FC-676F4EE4B9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45548-386F-734F-D9E1-031A7A3F9D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6DC39D-0416-0E4A-A1B0-1841E70287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8087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3BA7F-1645-B045-ABB1-A8C8CD7B60A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A3F85-2C57-0344-8776-7E9360E68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97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78347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1pPr>
    <a:lvl2pPr marL="1239176" algn="l" defTabSz="2478347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2pPr>
    <a:lvl3pPr marL="2478347" algn="l" defTabSz="2478347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3pPr>
    <a:lvl4pPr marL="3717521" algn="l" defTabSz="2478347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4pPr>
    <a:lvl5pPr marL="4956697" algn="l" defTabSz="2478347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5pPr>
    <a:lvl6pPr marL="6195871" algn="l" defTabSz="2478347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6pPr>
    <a:lvl7pPr marL="7435042" algn="l" defTabSz="2478347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7pPr>
    <a:lvl8pPr marL="8674219" algn="l" defTabSz="2478347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8pPr>
    <a:lvl9pPr marL="9913392" algn="l" defTabSz="2478347" rtl="0" eaLnBrk="1" latinLnBrk="0" hangingPunct="1">
      <a:defRPr sz="325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ED7E8-8AFC-C46F-4F92-E2ECDF451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DF7DA4-9325-236D-75E8-2350ACA38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6D886-838D-7ACE-4B0F-E67014488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C37AE-4B09-4ACA-256A-370535305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A3F85-2C57-0344-8776-7E9360E687A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735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666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3AA600-9D92-CA49-93BB-E480D0FC2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-786" y="0"/>
            <a:ext cx="30275999" cy="2880000"/>
          </a:xfrm>
          <a:prstGeom prst="rect">
            <a:avLst/>
          </a:prstGeom>
          <a:solidFill>
            <a:srgbClr val="174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940" dirty="0">
              <a:solidFill>
                <a:srgbClr val="174273"/>
              </a:solidFill>
            </a:endParaRP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ECBDC2D8-DD18-4D14-1140-FAF8DADD36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000" y="1663349"/>
            <a:ext cx="28835999" cy="97012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Insert sub-heading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E3F2DC16-41E3-AD75-2071-9950A1B0ED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000" y="720000"/>
            <a:ext cx="28835999" cy="720000"/>
          </a:xfrm>
        </p:spPr>
        <p:txBody>
          <a:bodyPr/>
          <a:lstStyle>
            <a:lvl1pPr marL="0" indent="0">
              <a:buNone/>
              <a:defRPr lang="en-US" sz="4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defRPr/>
            </a:lvl2pPr>
            <a:lvl3pPr marL="0" indent="0">
              <a:defRPr/>
            </a:lvl3pPr>
            <a:lvl4pPr marL="0" indent="0">
              <a:defRPr/>
            </a:lvl4pPr>
            <a:lvl5pPr marL="0" indent="0">
              <a:defRPr/>
            </a:lvl5pPr>
          </a:lstStyle>
          <a:p>
            <a:pPr marL="571500" lvl="0" indent="-571500" algn="l" defTabSz="457200" rtl="0" eaLnBrk="1" latinLnBrk="0" hangingPunct="1">
              <a:lnSpc>
                <a:spcPct val="80000"/>
              </a:lnSpc>
              <a:spcBef>
                <a:spcPct val="0"/>
              </a:spcBef>
            </a:pPr>
            <a:r>
              <a:rPr lang="en-GB" dirty="0"/>
              <a:t>Insert H1 section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C4F2D3-9BEE-F946-BC45-93229C252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19943625"/>
            <a:ext cx="30275999" cy="1440000"/>
          </a:xfrm>
          <a:prstGeom prst="rect">
            <a:avLst/>
          </a:prstGeom>
          <a:solidFill>
            <a:srgbClr val="174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940" dirty="0">
              <a:solidFill>
                <a:srgbClr val="174273"/>
              </a:solidFill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B33C94BB-0E5D-55D6-834E-0C69230A6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0000" y="20372073"/>
            <a:ext cx="2880000" cy="583103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576CD9-F0C8-E820-D064-FA81A49ED0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20000" y="20159999"/>
            <a:ext cx="25235999" cy="990000"/>
          </a:xfrm>
        </p:spPr>
        <p:txBody>
          <a:bodyPr anchor="ctr" anchorCtr="0"/>
          <a:lstStyle>
            <a:lvl5pPr marL="0" indent="0">
              <a:tabLst/>
              <a:defRPr>
                <a:solidFill>
                  <a:schemeClr val="bg1"/>
                </a:solidFill>
              </a:defRPr>
            </a:lvl5pPr>
          </a:lstStyle>
          <a:p>
            <a:pPr lvl="4"/>
            <a:r>
              <a:rPr lang="en-GB" dirty="0"/>
              <a:t>Footnotes can go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34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3AA600-9D92-CA49-93BB-E480D0FC2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-787" y="0"/>
            <a:ext cx="30275999" cy="2880000"/>
          </a:xfrm>
          <a:prstGeom prst="rect">
            <a:avLst/>
          </a:prstGeom>
          <a:solidFill>
            <a:srgbClr val="174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940" dirty="0">
              <a:solidFill>
                <a:srgbClr val="174273"/>
              </a:solidFill>
            </a:endParaRP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ECBDC2D8-DD18-4D14-1140-FAF8DADD36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000" y="1663349"/>
            <a:ext cx="28835999" cy="97012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Insert sub-heading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E3F2DC16-41E3-AD75-2071-9950A1B0ED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0000" y="720000"/>
            <a:ext cx="28835999" cy="720000"/>
          </a:xfrm>
        </p:spPr>
        <p:txBody>
          <a:bodyPr/>
          <a:lstStyle>
            <a:lvl1pPr marL="0" indent="0">
              <a:buNone/>
              <a:defRPr lang="en-US" sz="4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>
              <a:defRPr/>
            </a:lvl2pPr>
            <a:lvl3pPr marL="0" indent="0">
              <a:defRPr/>
            </a:lvl3pPr>
            <a:lvl4pPr marL="0" indent="0">
              <a:defRPr/>
            </a:lvl4pPr>
            <a:lvl5pPr marL="0" indent="0">
              <a:defRPr/>
            </a:lvl5pPr>
          </a:lstStyle>
          <a:p>
            <a:pPr marL="571500" lvl="0" indent="-571500" algn="l" defTabSz="457200" rtl="0" eaLnBrk="1" latinLnBrk="0" hangingPunct="1">
              <a:lnSpc>
                <a:spcPct val="80000"/>
              </a:lnSpc>
              <a:spcBef>
                <a:spcPct val="0"/>
              </a:spcBef>
            </a:pPr>
            <a:r>
              <a:rPr lang="en-GB" dirty="0"/>
              <a:t>Insert H1 section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C4F2D3-9BEE-F946-BC45-93229C252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-786" y="19944000"/>
            <a:ext cx="30275999" cy="1440000"/>
          </a:xfrm>
          <a:prstGeom prst="rect">
            <a:avLst/>
          </a:prstGeom>
          <a:solidFill>
            <a:srgbClr val="174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940" dirty="0">
              <a:solidFill>
                <a:srgbClr val="174273"/>
              </a:solidFill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B33C94BB-0E5D-55D6-834E-0C69230A6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0000" y="20372073"/>
            <a:ext cx="2880000" cy="583103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D410F57-1C94-BAF3-15DD-330BAC9FAC90}"/>
              </a:ext>
            </a:extLst>
          </p:cNvPr>
          <p:cNvSpPr>
            <a:spLocks/>
          </p:cNvSpPr>
          <p:nvPr userDrawn="1"/>
        </p:nvSpPr>
        <p:spPr>
          <a:xfrm>
            <a:off x="720000" y="3600000"/>
            <a:ext cx="9000000" cy="7091812"/>
          </a:xfrm>
          <a:prstGeom prst="roundRect">
            <a:avLst>
              <a:gd name="adj" fmla="val 2563"/>
            </a:avLst>
          </a:prstGeom>
          <a:solidFill>
            <a:srgbClr val="D1D9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D91C2B8-D4E4-71C7-14BB-14DAD15329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80000" y="3960000"/>
            <a:ext cx="8280000" cy="503999"/>
          </a:xfrm>
        </p:spPr>
        <p:txBody>
          <a:bodyPr/>
          <a:lstStyle/>
          <a:p>
            <a:r>
              <a:rPr lang="en-GB" sz="2400" dirty="0"/>
              <a:t>Panel heading – </a:t>
            </a:r>
            <a:r>
              <a:rPr lang="en-GB" sz="2400" dirty="0">
                <a:solidFill>
                  <a:srgbClr val="174273"/>
                </a:solidFill>
              </a:rPr>
              <a:t>Arial Bold</a:t>
            </a:r>
            <a:r>
              <a:rPr lang="en-GB" sz="2400" dirty="0"/>
              <a:t>, 24pt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4952A4-FD1A-CDA9-063E-E7ACC92658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80000" y="4572000"/>
            <a:ext cx="8280000" cy="3240000"/>
          </a:xfrm>
        </p:spPr>
        <p:txBody>
          <a:bodyPr/>
          <a:lstStyle>
            <a:lvl1pPr>
              <a:defRPr b="0"/>
            </a:lvl1pPr>
            <a:lvl3pPr marL="17463" indent="0">
              <a:tabLst/>
              <a:defRPr/>
            </a:lvl3pPr>
          </a:lstStyle>
          <a:p>
            <a:pPr>
              <a:spcBef>
                <a:spcPts val="0"/>
              </a:spcBef>
            </a:pPr>
            <a:r>
              <a:rPr lang="en-GB" sz="1800" dirty="0"/>
              <a:t>Body copy – Arial, 18pt</a:t>
            </a:r>
          </a:p>
        </p:txBody>
      </p:sp>
    </p:spTree>
    <p:extLst>
      <p:ext uri="{BB962C8B-B14F-4D97-AF65-F5344CB8AC3E}">
        <p14:creationId xmlns:p14="http://schemas.microsoft.com/office/powerpoint/2010/main" val="205882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content (no title lines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F689BC0-EF84-B45D-0D39-DA9299DB19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65711" y="1203356"/>
            <a:ext cx="27342302" cy="188439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3973" b="0">
                <a:solidFill>
                  <a:schemeClr val="tx1"/>
                </a:solidFill>
              </a:defRPr>
            </a:lvl1pPr>
            <a:lvl2pPr>
              <a:defRPr sz="3973">
                <a:solidFill>
                  <a:schemeClr val="tx1"/>
                </a:solidFill>
              </a:defRPr>
            </a:lvl2pPr>
          </a:lstStyle>
          <a:p>
            <a:pPr marL="0" marR="0" lvl="0" indent="0" algn="l" defTabSz="2270638" rtl="0" eaLnBrk="1" fontAlgn="auto" latinLnBrk="0" hangingPunct="1">
              <a:lnSpc>
                <a:spcPct val="100000"/>
              </a:lnSpc>
              <a:spcBef>
                <a:spcPts val="248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Text content. Use </a:t>
            </a:r>
            <a:r>
              <a:rPr lang="en-US" sz="3973" b="0" i="0">
                <a:solidFill>
                  <a:srgbClr val="39464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Arial regular, size </a:t>
            </a:r>
            <a:r>
              <a:rPr lang="en-US" sz="3973" b="1" i="0">
                <a:solidFill>
                  <a:srgbClr val="39464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14pt</a:t>
            </a:r>
            <a:r>
              <a:rPr lang="en-US" sz="3973" b="0" i="0">
                <a:solidFill>
                  <a:srgbClr val="39464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minimum. Aim for </a:t>
            </a:r>
            <a:r>
              <a:rPr lang="en-US" sz="3973" b="1" i="0">
                <a:solidFill>
                  <a:srgbClr val="39464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16pt-18pt </a:t>
            </a:r>
            <a:r>
              <a:rPr lang="en-US" sz="3973" b="0" i="0">
                <a:solidFill>
                  <a:srgbClr val="39464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where possible.</a:t>
            </a:r>
            <a:br>
              <a:rPr lang="en-US" sz="3973" b="0" i="0">
                <a:solidFill>
                  <a:srgbClr val="39464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/>
          </a:p>
          <a:p>
            <a:pPr marL="1702979" marR="0" lvl="1" indent="-709574" algn="l" defTabSz="2270638" rtl="0" eaLnBrk="1" fontAlgn="auto" latinLnBrk="0" hangingPunct="1">
              <a:lnSpc>
                <a:spcPct val="100000"/>
              </a:lnSpc>
              <a:spcBef>
                <a:spcPts val="2483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Example of a bulleted list</a:t>
            </a:r>
          </a:p>
          <a:p>
            <a:pPr marL="1702979" marR="0" lvl="1" indent="-709574" algn="l" defTabSz="2270638" rtl="0" eaLnBrk="1" fontAlgn="auto" latinLnBrk="0" hangingPunct="1">
              <a:lnSpc>
                <a:spcPct val="100000"/>
              </a:lnSpc>
              <a:spcBef>
                <a:spcPts val="248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Example of a bulleted list</a:t>
            </a:r>
            <a:endParaRPr lang="en-GB"/>
          </a:p>
          <a:p>
            <a:pPr marL="1702979" marR="0" lvl="1" indent="-709574" algn="l" defTabSz="2270638" rtl="0" eaLnBrk="1" fontAlgn="auto" latinLnBrk="0" hangingPunct="1">
              <a:lnSpc>
                <a:spcPct val="100000"/>
              </a:lnSpc>
              <a:spcBef>
                <a:spcPts val="248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Example of a bulleted list</a:t>
            </a:r>
            <a:endParaRPr lang="en-GB"/>
          </a:p>
          <a:p>
            <a:pPr marL="0" marR="0" lvl="0" indent="0" algn="l" defTabSz="2270638" rtl="0" eaLnBrk="1" fontAlgn="auto" latinLnBrk="0" hangingPunct="1">
              <a:lnSpc>
                <a:spcPct val="100000"/>
              </a:lnSpc>
              <a:spcBef>
                <a:spcPts val="248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2565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001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None/>
        <a:defRPr sz="2400" b="1" kern="1200">
          <a:solidFill>
            <a:srgbClr val="17427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425595" indent="0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None/>
        <a:defRPr sz="2400" kern="1200">
          <a:solidFill>
            <a:srgbClr val="17427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2851190" indent="0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None/>
        <a:defRPr sz="1800" kern="1200">
          <a:solidFill>
            <a:srgbClr val="17427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4276786" indent="0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None/>
        <a:defRPr sz="1400" kern="1200">
          <a:solidFill>
            <a:srgbClr val="17427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5702381" indent="0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None/>
        <a:defRPr sz="1200" kern="1200">
          <a:solidFill>
            <a:srgbClr val="174273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ents.leeds.ac.uk/info/10110/academic-integrity/1317/declarations-of-academic-integrity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7D6FB7-7670-E959-5754-E0D0DAEEF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30275213" cy="29681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8E4D676-B58B-73DB-94AC-ED8C2F568612}"/>
              </a:ext>
            </a:extLst>
          </p:cNvPr>
          <p:cNvSpPr txBox="1"/>
          <p:nvPr/>
        </p:nvSpPr>
        <p:spPr>
          <a:xfrm>
            <a:off x="840137" y="5764521"/>
            <a:ext cx="28360305" cy="12012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GB" sz="3476" dirty="0"/>
              <a:t>Please use this coversheet for all coursework assignment submissions.</a:t>
            </a:r>
          </a:p>
          <a:p>
            <a:pPr fontAlgn="base"/>
            <a:endParaRPr lang="en-GB" sz="3476" dirty="0"/>
          </a:p>
          <a:p>
            <a:pPr fontAlgn="base"/>
            <a:r>
              <a:rPr lang="en-GB" sz="3476" dirty="0"/>
              <a:t>You should copy the coversheet into your assignment document as the first page, and save as one single document for submission. </a:t>
            </a:r>
          </a:p>
          <a:p>
            <a:pPr fontAlgn="base"/>
            <a:r>
              <a:rPr lang="en-GB" sz="3476" dirty="0"/>
              <a:t>  </a:t>
            </a:r>
          </a:p>
          <a:p>
            <a:pPr fontAlgn="base"/>
            <a:r>
              <a:rPr lang="en-GB" sz="3476" dirty="0"/>
              <a:t>Please see the Assessment Policy and Procedures for full guidance on coursework submission and associated penalties. </a:t>
            </a:r>
          </a:p>
          <a:p>
            <a:pPr fontAlgn="base"/>
            <a:endParaRPr lang="en-GB" sz="3476" dirty="0"/>
          </a:p>
          <a:p>
            <a:pPr fontAlgn="base"/>
            <a:r>
              <a:rPr lang="en-GB" sz="3476" dirty="0"/>
              <a:t>To complete this coversheet please provide the following information:</a:t>
            </a:r>
          </a:p>
          <a:p>
            <a:pPr fontAlgn="base"/>
            <a:endParaRPr lang="en-GB" sz="3476" dirty="0"/>
          </a:p>
          <a:p>
            <a:pPr fontAlgn="base">
              <a:lnSpc>
                <a:spcPct val="150000"/>
              </a:lnSpc>
            </a:pPr>
            <a:r>
              <a:rPr lang="en-GB" sz="3476" b="1" dirty="0"/>
              <a:t>Module Code: OLDA5302M</a:t>
            </a:r>
          </a:p>
          <a:p>
            <a:pPr fontAlgn="base">
              <a:lnSpc>
                <a:spcPct val="150000"/>
              </a:lnSpc>
            </a:pPr>
            <a:r>
              <a:rPr lang="en-GB" sz="3476" b="1" dirty="0"/>
              <a:t>Module Title: Capstone Project</a:t>
            </a:r>
          </a:p>
          <a:p>
            <a:pPr fontAlgn="base">
              <a:lnSpc>
                <a:spcPct val="150000"/>
              </a:lnSpc>
            </a:pPr>
            <a:r>
              <a:rPr lang="en-GB" sz="3476" b="1" dirty="0"/>
              <a:t>Assessment title: Summative Assessment 2 – Narrated Poster</a:t>
            </a:r>
          </a:p>
          <a:p>
            <a:pPr fontAlgn="base">
              <a:lnSpc>
                <a:spcPct val="150000"/>
              </a:lnSpc>
            </a:pPr>
            <a:r>
              <a:rPr lang="en-GB" sz="3476" b="1" dirty="0"/>
              <a:t>Your 9-digit Student ID Number: 201804870</a:t>
            </a:r>
          </a:p>
          <a:p>
            <a:pPr fontAlgn="base">
              <a:lnSpc>
                <a:spcPct val="150000"/>
              </a:lnSpc>
            </a:pPr>
            <a:r>
              <a:rPr lang="en-GB" sz="3476" b="1" dirty="0"/>
              <a:t>Word count or minute count: 654, 4:28</a:t>
            </a:r>
          </a:p>
          <a:p>
            <a:pPr fontAlgn="base">
              <a:lnSpc>
                <a:spcPct val="150000"/>
              </a:lnSpc>
            </a:pPr>
            <a:r>
              <a:rPr lang="en-GB" sz="3476" b="1" dirty="0"/>
              <a:t>Submission Date: December 18, 2025</a:t>
            </a:r>
          </a:p>
          <a:p>
            <a:pPr fontAlgn="base"/>
            <a:endParaRPr lang="en-GB" sz="3476" dirty="0"/>
          </a:p>
          <a:p>
            <a:pPr fontAlgn="base"/>
            <a:r>
              <a:rPr lang="en-GB" sz="3476" b="1" dirty="0"/>
              <a:t>Please note that by submitting this piece of work you are agreeing to the University’s Declaration of Academic Integrity.  </a:t>
            </a:r>
            <a:r>
              <a:rPr lang="en-GB" sz="3476" dirty="0"/>
              <a:t>You can </a:t>
            </a:r>
            <a:r>
              <a:rPr lang="en-GB" sz="3476" u="sng" dirty="0">
                <a:hlinkClick r:id="rId3"/>
              </a:rPr>
              <a:t>read the Declaration here</a:t>
            </a:r>
            <a:r>
              <a:rPr lang="en-GB" sz="3476" dirty="0"/>
              <a:t>.  </a:t>
            </a:r>
          </a:p>
          <a:p>
            <a:endParaRPr lang="en-GB" sz="3476" dirty="0"/>
          </a:p>
          <a:p>
            <a:endParaRPr lang="en-GB" sz="4470" dirty="0"/>
          </a:p>
        </p:txBody>
      </p:sp>
    </p:spTree>
    <p:extLst>
      <p:ext uri="{BB962C8B-B14F-4D97-AF65-F5344CB8AC3E}">
        <p14:creationId xmlns:p14="http://schemas.microsoft.com/office/powerpoint/2010/main" val="3749346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3000"/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923EB7-45C0-1076-38A2-024F58903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6B27F08E-B2E9-65C2-9DAA-F7A24DAA6EC7}"/>
              </a:ext>
            </a:extLst>
          </p:cNvPr>
          <p:cNvSpPr>
            <a:spLocks/>
          </p:cNvSpPr>
          <p:nvPr/>
        </p:nvSpPr>
        <p:spPr>
          <a:xfrm>
            <a:off x="10637606" y="12452892"/>
            <a:ext cx="9000000" cy="6807105"/>
          </a:xfrm>
          <a:prstGeom prst="rect">
            <a:avLst/>
          </a:prstGeom>
          <a:solidFill>
            <a:srgbClr val="D1D9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3200" b="1" dirty="0">
              <a:solidFill>
                <a:srgbClr val="17427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62A89D-A40C-5D51-BE5C-20E5E1C806B9}"/>
              </a:ext>
            </a:extLst>
          </p:cNvPr>
          <p:cNvSpPr>
            <a:spLocks/>
          </p:cNvSpPr>
          <p:nvPr/>
        </p:nvSpPr>
        <p:spPr>
          <a:xfrm>
            <a:off x="720000" y="3599999"/>
            <a:ext cx="9000000" cy="5934675"/>
          </a:xfrm>
          <a:prstGeom prst="rect">
            <a:avLst/>
          </a:prstGeom>
          <a:solidFill>
            <a:srgbClr val="D1D9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5">
            <a:extLst>
              <a:ext uri="{FF2B5EF4-FFF2-40B4-BE49-F238E27FC236}">
                <a16:creationId xmlns:a16="http://schemas.microsoft.com/office/drawing/2014/main" id="{599F30F3-21DC-0E6D-7C2E-EA4083D8F472}"/>
              </a:ext>
            </a:extLst>
          </p:cNvPr>
          <p:cNvSpPr txBox="1">
            <a:spLocks/>
          </p:cNvSpPr>
          <p:nvPr/>
        </p:nvSpPr>
        <p:spPr>
          <a:xfrm>
            <a:off x="1080000" y="3960958"/>
            <a:ext cx="8279999" cy="503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2851191" rtl="0" eaLnBrk="1" latinLnBrk="0" hangingPunct="1">
              <a:lnSpc>
                <a:spcPct val="100000"/>
              </a:lnSpc>
              <a:spcBef>
                <a:spcPts val="2483"/>
              </a:spcBef>
              <a:buNone/>
              <a:defRPr sz="3600" b="1" kern="1200">
                <a:solidFill>
                  <a:srgbClr val="174273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/>
              <a:t>1. Care receipt in later life reflects health, mobility, and social context</a:t>
            </a:r>
            <a:endParaRPr lang="en-GB" sz="3000" dirty="0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316DA30C-4A37-139B-8C44-1C8E2DED7C3A}"/>
              </a:ext>
            </a:extLst>
          </p:cNvPr>
          <p:cNvSpPr txBox="1">
            <a:spLocks/>
          </p:cNvSpPr>
          <p:nvPr/>
        </p:nvSpPr>
        <p:spPr>
          <a:xfrm>
            <a:off x="1079998" y="5163793"/>
            <a:ext cx="8279998" cy="324316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 defTabSz="2851191" rtl="0" eaLnBrk="1" latinLnBrk="0" hangingPunct="1">
              <a:lnSpc>
                <a:spcPct val="100000"/>
              </a:lnSpc>
              <a:spcBef>
                <a:spcPts val="3118"/>
              </a:spcBef>
              <a:buFont typeface="Arial" panose="020B0604020202020204" pitchFamily="34" charset="0"/>
              <a:buNone/>
              <a:defRPr sz="2400" b="0" kern="1200">
                <a:solidFill>
                  <a:srgbClr val="17427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138393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3988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989584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15179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40774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266370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91965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117560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/>
              <a:t>As populations age, more older adults require help with everyday activities. Understanding who receives help is important for planning future care and support.</a:t>
            </a:r>
          </a:p>
          <a:p>
            <a:r>
              <a:rPr lang="en-US" sz="2100" dirty="0"/>
              <a:t>This project uses data from Wave 10 of the English Longitudinal Study of Ageing (ELSA), a nationally representative survey of adults aged 50 and over living in England (Steptoe </a:t>
            </a:r>
            <a:r>
              <a:rPr lang="en-US" sz="2100" i="1" dirty="0"/>
              <a:t>et al.</a:t>
            </a:r>
            <a:r>
              <a:rPr lang="en-US" sz="2100" dirty="0"/>
              <a:t>, 2013).</a:t>
            </a:r>
          </a:p>
          <a:p>
            <a:r>
              <a:rPr lang="en-US" sz="2100" b="1" dirty="0"/>
              <a:t>Research question:</a:t>
            </a:r>
            <a:br>
              <a:rPr lang="en-US" sz="2100" dirty="0"/>
            </a:br>
            <a:r>
              <a:rPr lang="en-US" sz="2100" dirty="0"/>
              <a:t>Which health, mobility, social, and demographic factors are most strongly associated with receiving any informal or formal help among older adults?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3CE5FB-704B-12F4-7B76-56DD484B41CE}"/>
              </a:ext>
            </a:extLst>
          </p:cNvPr>
          <p:cNvSpPr>
            <a:spLocks/>
          </p:cNvSpPr>
          <p:nvPr/>
        </p:nvSpPr>
        <p:spPr>
          <a:xfrm>
            <a:off x="720000" y="10233510"/>
            <a:ext cx="9000000" cy="9026488"/>
          </a:xfrm>
          <a:prstGeom prst="rect">
            <a:avLst/>
          </a:prstGeom>
          <a:solidFill>
            <a:srgbClr val="D1D9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5">
            <a:extLst>
              <a:ext uri="{FF2B5EF4-FFF2-40B4-BE49-F238E27FC236}">
                <a16:creationId xmlns:a16="http://schemas.microsoft.com/office/drawing/2014/main" id="{E08005AA-1F33-8499-11BE-9E5F6EA9BFA4}"/>
              </a:ext>
            </a:extLst>
          </p:cNvPr>
          <p:cNvSpPr txBox="1">
            <a:spLocks/>
          </p:cNvSpPr>
          <p:nvPr/>
        </p:nvSpPr>
        <p:spPr>
          <a:xfrm>
            <a:off x="1073097" y="10544425"/>
            <a:ext cx="8279999" cy="503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2851191" rtl="0" eaLnBrk="1" latinLnBrk="0" hangingPunct="1">
              <a:lnSpc>
                <a:spcPct val="100000"/>
              </a:lnSpc>
              <a:spcBef>
                <a:spcPts val="2483"/>
              </a:spcBef>
              <a:buNone/>
              <a:defRPr sz="3600" b="1" kern="1200">
                <a:solidFill>
                  <a:srgbClr val="174273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/>
              <a:t>2. Survey structure and missingness shape modelling decisions</a:t>
            </a:r>
            <a:endParaRPr lang="en-GB" sz="3000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315F55B-D992-D4C7-576F-6CF46A137F1C}"/>
              </a:ext>
            </a:extLst>
          </p:cNvPr>
          <p:cNvSpPr txBox="1">
            <a:spLocks/>
          </p:cNvSpPr>
          <p:nvPr/>
        </p:nvSpPr>
        <p:spPr>
          <a:xfrm>
            <a:off x="1129310" y="11741107"/>
            <a:ext cx="8279999" cy="279287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 defTabSz="2851191" rtl="0" eaLnBrk="1" latinLnBrk="0" hangingPunct="1">
              <a:lnSpc>
                <a:spcPct val="100000"/>
              </a:lnSpc>
              <a:spcBef>
                <a:spcPts val="3118"/>
              </a:spcBef>
              <a:buFont typeface="Arial" panose="020B0604020202020204" pitchFamily="34" charset="0"/>
              <a:buNone/>
              <a:defRPr sz="2400" b="0" kern="1200">
                <a:solidFill>
                  <a:srgbClr val="17427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138393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3988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989584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15179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40774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266370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91965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117560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/>
              <a:t>Predictors were drawn from multiple domains, including mobility, health, physical activity, social contact, and demographic characteristics.</a:t>
            </a:r>
          </a:p>
          <a:p>
            <a:r>
              <a:rPr lang="en-US" sz="2000" dirty="0"/>
              <a:t>Exploratory analysis revealed structural challenges in the data, including uneven outcome prevalence and systematic patterns of non-response. </a:t>
            </a:r>
            <a:r>
              <a:rPr lang="en-US" sz="2100" dirty="0"/>
              <a:t>In addition, non-response varied systematically by predictor domain, with higher missingness in social and demographic-related variables, due to survey design.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8E243F-5C17-44A9-7029-FD1C91273E9E}"/>
              </a:ext>
            </a:extLst>
          </p:cNvPr>
          <p:cNvSpPr>
            <a:spLocks/>
          </p:cNvSpPr>
          <p:nvPr/>
        </p:nvSpPr>
        <p:spPr>
          <a:xfrm>
            <a:off x="10637606" y="3599998"/>
            <a:ext cx="9000000" cy="8151609"/>
          </a:xfrm>
          <a:prstGeom prst="rect">
            <a:avLst/>
          </a:prstGeom>
          <a:solidFill>
            <a:srgbClr val="D1D9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itle 15">
            <a:extLst>
              <a:ext uri="{FF2B5EF4-FFF2-40B4-BE49-F238E27FC236}">
                <a16:creationId xmlns:a16="http://schemas.microsoft.com/office/drawing/2014/main" id="{7125E974-DFE7-8078-3F32-849CD19F90A1}"/>
              </a:ext>
            </a:extLst>
          </p:cNvPr>
          <p:cNvSpPr txBox="1">
            <a:spLocks/>
          </p:cNvSpPr>
          <p:nvPr/>
        </p:nvSpPr>
        <p:spPr>
          <a:xfrm>
            <a:off x="10997606" y="3960958"/>
            <a:ext cx="8279999" cy="503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2851191" rtl="0" eaLnBrk="1" latinLnBrk="0" hangingPunct="1">
              <a:lnSpc>
                <a:spcPct val="100000"/>
              </a:lnSpc>
              <a:spcBef>
                <a:spcPts val="2483"/>
              </a:spcBef>
              <a:buNone/>
              <a:defRPr sz="3600" b="1" kern="1200">
                <a:solidFill>
                  <a:srgbClr val="174273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3000" dirty="0"/>
              <a:t>3a. </a:t>
            </a:r>
            <a:r>
              <a:rPr lang="en-US" sz="3200" dirty="0"/>
              <a:t>A flexible predictive model is required to capture non-linear relationships</a:t>
            </a:r>
          </a:p>
          <a:p>
            <a:endParaRPr lang="en-GB" sz="3000" dirty="0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33810727-0433-B8BC-9216-0EF2007402C7}"/>
              </a:ext>
            </a:extLst>
          </p:cNvPr>
          <p:cNvSpPr txBox="1">
            <a:spLocks/>
          </p:cNvSpPr>
          <p:nvPr/>
        </p:nvSpPr>
        <p:spPr>
          <a:xfrm>
            <a:off x="10980287" y="5166242"/>
            <a:ext cx="8088783" cy="324316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 defTabSz="2851191" rtl="0" eaLnBrk="1" latinLnBrk="0" hangingPunct="1">
              <a:lnSpc>
                <a:spcPct val="100000"/>
              </a:lnSpc>
              <a:spcBef>
                <a:spcPts val="3118"/>
              </a:spcBef>
              <a:buFont typeface="Arial" panose="020B0604020202020204" pitchFamily="34" charset="0"/>
              <a:buNone/>
              <a:defRPr sz="2400" b="0" kern="1200">
                <a:solidFill>
                  <a:srgbClr val="17427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138393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3988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989584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15179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40774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266370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91965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117560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/>
              <a:t>Exploratory analysis suggested non-linear relationships between health, mobility, and receipt of help, motivating the use of a flexible, tree-based modelling approach.</a:t>
            </a:r>
          </a:p>
          <a:p>
            <a:r>
              <a:rPr lang="en-US" sz="2100" dirty="0"/>
              <a:t>The modelling pipeline addressed structured patterns of non-response using median imputation within a cross-validated pipeline, alongside explicit missingness indicators to represent informative non-response.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CD5601-3DBC-6709-B9AF-FC6A4D506C72}"/>
              </a:ext>
            </a:extLst>
          </p:cNvPr>
          <p:cNvSpPr>
            <a:spLocks/>
          </p:cNvSpPr>
          <p:nvPr/>
        </p:nvSpPr>
        <p:spPr>
          <a:xfrm>
            <a:off x="20555212" y="3599997"/>
            <a:ext cx="9000000" cy="9197573"/>
          </a:xfrm>
          <a:prstGeom prst="rect">
            <a:avLst/>
          </a:prstGeom>
          <a:solidFill>
            <a:srgbClr val="D1D9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itle 15">
            <a:extLst>
              <a:ext uri="{FF2B5EF4-FFF2-40B4-BE49-F238E27FC236}">
                <a16:creationId xmlns:a16="http://schemas.microsoft.com/office/drawing/2014/main" id="{0A34DE43-EC67-A26E-96D3-BCBEB321B68D}"/>
              </a:ext>
            </a:extLst>
          </p:cNvPr>
          <p:cNvSpPr txBox="1">
            <a:spLocks/>
          </p:cNvSpPr>
          <p:nvPr/>
        </p:nvSpPr>
        <p:spPr>
          <a:xfrm>
            <a:off x="20915212" y="3960958"/>
            <a:ext cx="8279999" cy="503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2851191" rtl="0" eaLnBrk="1" latinLnBrk="0" hangingPunct="1">
              <a:lnSpc>
                <a:spcPct val="100000"/>
              </a:lnSpc>
              <a:spcBef>
                <a:spcPts val="2483"/>
              </a:spcBef>
              <a:buNone/>
              <a:defRPr sz="3600" b="1" kern="1200">
                <a:solidFill>
                  <a:srgbClr val="174273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/>
              <a:t>4. Mobility limitations dominate prediction of care receipt</a:t>
            </a:r>
            <a:endParaRPr lang="en-GB" sz="3000" dirty="0"/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4F8EDAF8-9F09-B328-5A9D-FC4ECDED4F20}"/>
              </a:ext>
            </a:extLst>
          </p:cNvPr>
          <p:cNvSpPr txBox="1">
            <a:spLocks/>
          </p:cNvSpPr>
          <p:nvPr/>
        </p:nvSpPr>
        <p:spPr>
          <a:xfrm>
            <a:off x="20961144" y="5055940"/>
            <a:ext cx="8184759" cy="3004101"/>
          </a:xfrm>
          <a:custGeom>
            <a:avLst/>
            <a:gdLst>
              <a:gd name="csX0" fmla="*/ 0 w 8279998"/>
              <a:gd name="csY0" fmla="*/ 0 h 2214111"/>
              <a:gd name="csX1" fmla="*/ 8279998 w 8279998"/>
              <a:gd name="csY1" fmla="*/ 0 h 2214111"/>
              <a:gd name="csX2" fmla="*/ 8279998 w 8279998"/>
              <a:gd name="csY2" fmla="*/ 2214111 h 2214111"/>
              <a:gd name="csX3" fmla="*/ 0 w 8279998"/>
              <a:gd name="csY3" fmla="*/ 2214111 h 2214111"/>
              <a:gd name="csX4" fmla="*/ 0 w 8279998"/>
              <a:gd name="csY4" fmla="*/ 0 h 2214111"/>
              <a:gd name="csX0" fmla="*/ 0 w 8279998"/>
              <a:gd name="csY0" fmla="*/ 0 h 2214111"/>
              <a:gd name="csX1" fmla="*/ 8279998 w 8279998"/>
              <a:gd name="csY1" fmla="*/ 0 h 2214111"/>
              <a:gd name="csX2" fmla="*/ 8127598 w 8279998"/>
              <a:gd name="csY2" fmla="*/ 1858511 h 2214111"/>
              <a:gd name="csX3" fmla="*/ 0 w 8279998"/>
              <a:gd name="csY3" fmla="*/ 2214111 h 2214111"/>
              <a:gd name="csX4" fmla="*/ 0 w 8279998"/>
              <a:gd name="csY4" fmla="*/ 0 h 2214111"/>
              <a:gd name="csX0" fmla="*/ 0 w 8279998"/>
              <a:gd name="csY0" fmla="*/ 0 h 2214111"/>
              <a:gd name="csX1" fmla="*/ 8279998 w 8279998"/>
              <a:gd name="csY1" fmla="*/ 0 h 2214111"/>
              <a:gd name="csX2" fmla="*/ 8127598 w 8279998"/>
              <a:gd name="csY2" fmla="*/ 1858511 h 2214111"/>
              <a:gd name="csX3" fmla="*/ 0 w 8279998"/>
              <a:gd name="csY3" fmla="*/ 2214111 h 2214111"/>
              <a:gd name="csX4" fmla="*/ 0 w 8279998"/>
              <a:gd name="csY4" fmla="*/ 0 h 2214111"/>
              <a:gd name="csX0" fmla="*/ 0 w 8279998"/>
              <a:gd name="csY0" fmla="*/ 0 h 3280911"/>
              <a:gd name="csX1" fmla="*/ 8279998 w 8279998"/>
              <a:gd name="csY1" fmla="*/ 0 h 3280911"/>
              <a:gd name="csX2" fmla="*/ 8127598 w 8279998"/>
              <a:gd name="csY2" fmla="*/ 1858511 h 3280911"/>
              <a:gd name="csX3" fmla="*/ 76200 w 8279998"/>
              <a:gd name="csY3" fmla="*/ 3280911 h 3280911"/>
              <a:gd name="csX4" fmla="*/ 0 w 8279998"/>
              <a:gd name="csY4" fmla="*/ 0 h 3280911"/>
              <a:gd name="csX0" fmla="*/ 0 w 8279998"/>
              <a:gd name="csY0" fmla="*/ 0 h 3280911"/>
              <a:gd name="csX1" fmla="*/ 8279998 w 8279998"/>
              <a:gd name="csY1" fmla="*/ 0 h 3280911"/>
              <a:gd name="csX2" fmla="*/ 8127598 w 8279998"/>
              <a:gd name="csY2" fmla="*/ 1858511 h 3280911"/>
              <a:gd name="csX3" fmla="*/ 76200 w 8279998"/>
              <a:gd name="csY3" fmla="*/ 3280911 h 3280911"/>
              <a:gd name="csX4" fmla="*/ 0 w 8279998"/>
              <a:gd name="csY4" fmla="*/ 0 h 3280911"/>
              <a:gd name="csX0" fmla="*/ 0 w 8279998"/>
              <a:gd name="csY0" fmla="*/ 0 h 3423428"/>
              <a:gd name="csX1" fmla="*/ 8279998 w 8279998"/>
              <a:gd name="csY1" fmla="*/ 0 h 3423428"/>
              <a:gd name="csX2" fmla="*/ 8127598 w 8279998"/>
              <a:gd name="csY2" fmla="*/ 1858511 h 3423428"/>
              <a:gd name="csX3" fmla="*/ 5251656 w 8279998"/>
              <a:gd name="csY3" fmla="*/ 2894262 h 3423428"/>
              <a:gd name="csX4" fmla="*/ 76200 w 8279998"/>
              <a:gd name="csY4" fmla="*/ 3280911 h 3423428"/>
              <a:gd name="csX5" fmla="*/ 0 w 8279998"/>
              <a:gd name="csY5" fmla="*/ 0 h 3423428"/>
              <a:gd name="csX0" fmla="*/ 0 w 8279998"/>
              <a:gd name="csY0" fmla="*/ 0 h 3423428"/>
              <a:gd name="csX1" fmla="*/ 8279998 w 8279998"/>
              <a:gd name="csY1" fmla="*/ 0 h 3423428"/>
              <a:gd name="csX2" fmla="*/ 8127598 w 8279998"/>
              <a:gd name="csY2" fmla="*/ 1858511 h 3423428"/>
              <a:gd name="csX3" fmla="*/ 5251656 w 8279998"/>
              <a:gd name="csY3" fmla="*/ 2894262 h 3423428"/>
              <a:gd name="csX4" fmla="*/ 76200 w 8279998"/>
              <a:gd name="csY4" fmla="*/ 3280911 h 3423428"/>
              <a:gd name="csX5" fmla="*/ 0 w 8279998"/>
              <a:gd name="csY5" fmla="*/ 0 h 3423428"/>
              <a:gd name="csX0" fmla="*/ 0 w 8279998"/>
              <a:gd name="csY0" fmla="*/ 0 h 3427610"/>
              <a:gd name="csX1" fmla="*/ 8279998 w 8279998"/>
              <a:gd name="csY1" fmla="*/ 0 h 3427610"/>
              <a:gd name="csX2" fmla="*/ 8127598 w 8279998"/>
              <a:gd name="csY2" fmla="*/ 1858511 h 3427610"/>
              <a:gd name="csX3" fmla="*/ 5200856 w 8279998"/>
              <a:gd name="csY3" fmla="*/ 2919662 h 3427610"/>
              <a:gd name="csX4" fmla="*/ 76200 w 8279998"/>
              <a:gd name="csY4" fmla="*/ 3280911 h 3427610"/>
              <a:gd name="csX5" fmla="*/ 0 w 8279998"/>
              <a:gd name="csY5" fmla="*/ 0 h 3427610"/>
              <a:gd name="csX0" fmla="*/ 0 w 8279998"/>
              <a:gd name="csY0" fmla="*/ 0 h 3378995"/>
              <a:gd name="csX1" fmla="*/ 8279998 w 8279998"/>
              <a:gd name="csY1" fmla="*/ 0 h 3378995"/>
              <a:gd name="csX2" fmla="*/ 8127598 w 8279998"/>
              <a:gd name="csY2" fmla="*/ 1858511 h 3378995"/>
              <a:gd name="csX3" fmla="*/ 3941773 w 8279998"/>
              <a:gd name="csY3" fmla="*/ 2497845 h 3378995"/>
              <a:gd name="csX4" fmla="*/ 76200 w 8279998"/>
              <a:gd name="csY4" fmla="*/ 3280911 h 3378995"/>
              <a:gd name="csX5" fmla="*/ 0 w 8279998"/>
              <a:gd name="csY5" fmla="*/ 0 h 3378995"/>
              <a:gd name="csX0" fmla="*/ 0 w 8279998"/>
              <a:gd name="csY0" fmla="*/ 0 h 3378996"/>
              <a:gd name="csX1" fmla="*/ 8279998 w 8279998"/>
              <a:gd name="csY1" fmla="*/ 0 h 3378996"/>
              <a:gd name="csX2" fmla="*/ 8178989 w 8279998"/>
              <a:gd name="csY2" fmla="*/ 1376434 h 3378996"/>
              <a:gd name="csX3" fmla="*/ 3941773 w 8279998"/>
              <a:gd name="csY3" fmla="*/ 2497845 h 3378996"/>
              <a:gd name="csX4" fmla="*/ 76200 w 8279998"/>
              <a:gd name="csY4" fmla="*/ 3280911 h 3378996"/>
              <a:gd name="csX5" fmla="*/ 0 w 8279998"/>
              <a:gd name="csY5" fmla="*/ 0 h 3378996"/>
              <a:gd name="csX0" fmla="*/ 0 w 8279998"/>
              <a:gd name="csY0" fmla="*/ 0 h 3378996"/>
              <a:gd name="csX1" fmla="*/ 8279998 w 8279998"/>
              <a:gd name="csY1" fmla="*/ 0 h 3378996"/>
              <a:gd name="csX2" fmla="*/ 8178989 w 8279998"/>
              <a:gd name="csY2" fmla="*/ 1376434 h 3378996"/>
              <a:gd name="csX3" fmla="*/ 3941773 w 8279998"/>
              <a:gd name="csY3" fmla="*/ 2497845 h 3378996"/>
              <a:gd name="csX4" fmla="*/ 76200 w 8279998"/>
              <a:gd name="csY4" fmla="*/ 3280911 h 3378996"/>
              <a:gd name="csX5" fmla="*/ 0 w 8279998"/>
              <a:gd name="csY5" fmla="*/ 0 h 3378996"/>
              <a:gd name="csX0" fmla="*/ 0 w 8279998"/>
              <a:gd name="csY0" fmla="*/ 0 h 3654431"/>
              <a:gd name="csX1" fmla="*/ 8279998 w 8279998"/>
              <a:gd name="csY1" fmla="*/ 0 h 3654431"/>
              <a:gd name="csX2" fmla="*/ 8178989 w 8279998"/>
              <a:gd name="csY2" fmla="*/ 1376434 h 3654431"/>
              <a:gd name="csX3" fmla="*/ 3941773 w 8279998"/>
              <a:gd name="csY3" fmla="*/ 2497845 h 3654431"/>
              <a:gd name="csX4" fmla="*/ 76200 w 8279998"/>
              <a:gd name="csY4" fmla="*/ 3280911 h 3654431"/>
              <a:gd name="csX5" fmla="*/ 0 w 8279998"/>
              <a:gd name="csY5" fmla="*/ 0 h 3654431"/>
              <a:gd name="csX0" fmla="*/ 0 w 8279998"/>
              <a:gd name="csY0" fmla="*/ 0 h 3654431"/>
              <a:gd name="csX1" fmla="*/ 8279998 w 8279998"/>
              <a:gd name="csY1" fmla="*/ 0 h 3654431"/>
              <a:gd name="csX2" fmla="*/ 8178989 w 8279998"/>
              <a:gd name="csY2" fmla="*/ 1376434 h 3654431"/>
              <a:gd name="csX3" fmla="*/ 4121642 w 8279998"/>
              <a:gd name="csY3" fmla="*/ 2497845 h 3654431"/>
              <a:gd name="csX4" fmla="*/ 76200 w 8279998"/>
              <a:gd name="csY4" fmla="*/ 3280911 h 3654431"/>
              <a:gd name="csX5" fmla="*/ 0 w 8279998"/>
              <a:gd name="csY5" fmla="*/ 0 h 3654431"/>
              <a:gd name="csX0" fmla="*/ 0 w 8279998"/>
              <a:gd name="csY0" fmla="*/ 0 h 3681260"/>
              <a:gd name="csX1" fmla="*/ 8279998 w 8279998"/>
              <a:gd name="csY1" fmla="*/ 0 h 3681260"/>
              <a:gd name="csX2" fmla="*/ 8178989 w 8279998"/>
              <a:gd name="csY2" fmla="*/ 1376434 h 3681260"/>
              <a:gd name="csX3" fmla="*/ 4147338 w 8279998"/>
              <a:gd name="csY3" fmla="*/ 2558104 h 3681260"/>
              <a:gd name="csX4" fmla="*/ 76200 w 8279998"/>
              <a:gd name="csY4" fmla="*/ 3280911 h 3681260"/>
              <a:gd name="csX5" fmla="*/ 0 w 8279998"/>
              <a:gd name="csY5" fmla="*/ 0 h 3681260"/>
              <a:gd name="csX0" fmla="*/ 0 w 8279998"/>
              <a:gd name="csY0" fmla="*/ 0 h 3563503"/>
              <a:gd name="csX1" fmla="*/ 8279998 w 8279998"/>
              <a:gd name="csY1" fmla="*/ 0 h 3563503"/>
              <a:gd name="csX2" fmla="*/ 8178989 w 8279998"/>
              <a:gd name="csY2" fmla="*/ 1376434 h 3563503"/>
              <a:gd name="csX3" fmla="*/ 4147338 w 8279998"/>
              <a:gd name="csY3" fmla="*/ 2558104 h 3563503"/>
              <a:gd name="csX4" fmla="*/ 76200 w 8279998"/>
              <a:gd name="csY4" fmla="*/ 3280911 h 3563503"/>
              <a:gd name="csX5" fmla="*/ 0 w 8279998"/>
              <a:gd name="csY5" fmla="*/ 0 h 3563503"/>
              <a:gd name="csX0" fmla="*/ 0 w 8279998"/>
              <a:gd name="csY0" fmla="*/ 0 h 3563504"/>
              <a:gd name="csX1" fmla="*/ 8279998 w 8279998"/>
              <a:gd name="csY1" fmla="*/ 0 h 3563504"/>
              <a:gd name="csX2" fmla="*/ 8178989 w 8279998"/>
              <a:gd name="csY2" fmla="*/ 1376434 h 3563504"/>
              <a:gd name="csX3" fmla="*/ 4147338 w 8279998"/>
              <a:gd name="csY3" fmla="*/ 2558104 h 3563504"/>
              <a:gd name="csX4" fmla="*/ 76200 w 8279998"/>
              <a:gd name="csY4" fmla="*/ 3280911 h 3563504"/>
              <a:gd name="csX5" fmla="*/ 0 w 8279998"/>
              <a:gd name="csY5" fmla="*/ 0 h 35635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279998" h="3563504">
                <a:moveTo>
                  <a:pt x="0" y="0"/>
                </a:moveTo>
                <a:lnTo>
                  <a:pt x="8279998" y="0"/>
                </a:lnTo>
                <a:lnTo>
                  <a:pt x="8178989" y="1376434"/>
                </a:lnTo>
                <a:cubicBezTo>
                  <a:pt x="7521865" y="1778378"/>
                  <a:pt x="3029280" y="796331"/>
                  <a:pt x="4147338" y="2558104"/>
                </a:cubicBezTo>
                <a:cubicBezTo>
                  <a:pt x="4912474" y="3819584"/>
                  <a:pt x="799076" y="3682855"/>
                  <a:pt x="76200" y="3280911"/>
                </a:cubicBezTo>
                <a:lnTo>
                  <a:pt x="0" y="0"/>
                </a:lnTo>
                <a:close/>
              </a:path>
            </a:pathLst>
          </a:custGeom>
          <a:noFill/>
        </p:spPr>
        <p:txBody>
          <a:bodyPr>
            <a:noAutofit/>
          </a:bodyPr>
          <a:lstStyle>
            <a:lvl1pPr marL="0" indent="0" algn="l" defTabSz="2851191" rtl="0" eaLnBrk="1" latinLnBrk="0" hangingPunct="1">
              <a:lnSpc>
                <a:spcPct val="100000"/>
              </a:lnSpc>
              <a:spcBef>
                <a:spcPts val="3118"/>
              </a:spcBef>
              <a:buFont typeface="Arial" panose="020B0604020202020204" pitchFamily="34" charset="0"/>
              <a:buNone/>
              <a:defRPr sz="2400" b="0" kern="1200">
                <a:solidFill>
                  <a:srgbClr val="17427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138393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3988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989584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15179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40774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266370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91965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117560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/>
              <a:t>Model interpretation indicates that mobility limitations are the strongest predictors of receiving help, contributing more to prediction than health,                                                           demographic, or social factors.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0B5D55A-C4D4-CB72-0DBF-E01DFCE0AC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9213" y="20617906"/>
            <a:ext cx="25235999" cy="45719"/>
          </a:xfrm>
        </p:spPr>
        <p:txBody>
          <a:bodyPr>
            <a:no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References: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</a:rPr>
              <a:t>Banks, J., Batty, G.D., </a:t>
            </a:r>
            <a:r>
              <a:rPr lang="en-US" sz="1200" dirty="0" err="1">
                <a:solidFill>
                  <a:schemeClr val="bg1"/>
                </a:solidFill>
              </a:rPr>
              <a:t>Nazroo</a:t>
            </a:r>
            <a:r>
              <a:rPr lang="en-US" sz="1200" dirty="0">
                <a:solidFill>
                  <a:schemeClr val="bg1"/>
                </a:solidFill>
              </a:rPr>
              <a:t>, J. and Steptoe, A. (eds.) 2019. </a:t>
            </a:r>
            <a:r>
              <a:rPr lang="en-US" sz="1200" i="1" dirty="0">
                <a:solidFill>
                  <a:schemeClr val="bg1"/>
                </a:solidFill>
              </a:rPr>
              <a:t>The dynamics of ageing: evidence from the English Longitudinal Study of Ageing 2002–2016</a:t>
            </a:r>
            <a:r>
              <a:rPr lang="en-US" sz="1200" dirty="0">
                <a:solidFill>
                  <a:schemeClr val="bg1"/>
                </a:solidFill>
              </a:rPr>
              <a:t>. London: Institute for Fiscal Studies.</a:t>
            </a:r>
            <a:endParaRPr lang="en-US" sz="1200" dirty="0">
              <a:solidFill>
                <a:schemeClr val="bg1"/>
              </a:solidFill>
              <a:latin typeface="Arial"/>
              <a:ea typeface="+mn-lt"/>
              <a:cs typeface="+mn-lt"/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</a:pPr>
            <a:r>
              <a:rPr lang="en-US" sz="1200" dirty="0" err="1">
                <a:solidFill>
                  <a:schemeClr val="bg1"/>
                </a:solidFill>
                <a:latin typeface="Arial"/>
                <a:ea typeface="+mn-lt"/>
                <a:cs typeface="+mn-lt"/>
              </a:rPr>
              <a:t>Breiman</a:t>
            </a:r>
            <a:r>
              <a:rPr lang="en-US" sz="12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, L. 2001. Random forests. Machine learning. 45(1), pp.5–32.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Katz, S., Ford, A.B., Moskowitz, R.W., Jackson, B.A. and Jaffe, M.W. 1963. Studies of illness in the aged: the index of ADL. Journal of the American Medical Association. 185(12), pp.914–919.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Steptoe, A., Breeze, E., Banks, J. and </a:t>
            </a:r>
            <a:r>
              <a:rPr lang="en-US" sz="1200" dirty="0" err="1">
                <a:solidFill>
                  <a:schemeClr val="bg1"/>
                </a:solidFill>
                <a:latin typeface="Arial"/>
                <a:ea typeface="+mn-lt"/>
                <a:cs typeface="+mn-lt"/>
              </a:rPr>
              <a:t>Nazroo</a:t>
            </a:r>
            <a:r>
              <a:rPr lang="en-US" sz="12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, J. 2013. Cohort profile: the English Longitudinal Study of Ageing. International journal of epidemiology. 42(6), pp.1640–1648.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World Health Organization. 2015. World report on ageing and health. Geneva: World Health Organization.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59DAC4-87E8-0DA0-2D76-593A07587ACC}"/>
              </a:ext>
            </a:extLst>
          </p:cNvPr>
          <p:cNvSpPr>
            <a:spLocks/>
          </p:cNvSpPr>
          <p:nvPr/>
        </p:nvSpPr>
        <p:spPr>
          <a:xfrm>
            <a:off x="20555212" y="13461596"/>
            <a:ext cx="9000000" cy="5798402"/>
          </a:xfrm>
          <a:prstGeom prst="rect">
            <a:avLst/>
          </a:prstGeom>
          <a:solidFill>
            <a:srgbClr val="D1D9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5">
            <a:extLst>
              <a:ext uri="{FF2B5EF4-FFF2-40B4-BE49-F238E27FC236}">
                <a16:creationId xmlns:a16="http://schemas.microsoft.com/office/drawing/2014/main" id="{2A5FF93E-4D46-DF5E-AFB9-7FFE21C57E2B}"/>
              </a:ext>
            </a:extLst>
          </p:cNvPr>
          <p:cNvSpPr txBox="1">
            <a:spLocks/>
          </p:cNvSpPr>
          <p:nvPr/>
        </p:nvSpPr>
        <p:spPr>
          <a:xfrm>
            <a:off x="20865904" y="13818275"/>
            <a:ext cx="8279999" cy="503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2851191" rtl="0" eaLnBrk="1" latinLnBrk="0" hangingPunct="1">
              <a:lnSpc>
                <a:spcPct val="100000"/>
              </a:lnSpc>
              <a:spcBef>
                <a:spcPts val="2483"/>
              </a:spcBef>
              <a:buNone/>
              <a:defRPr sz="3600" b="1" kern="1200">
                <a:solidFill>
                  <a:srgbClr val="174273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3200" dirty="0"/>
              <a:t>5. Predictions are informative at the population level but require careful interpretation</a:t>
            </a:r>
          </a:p>
          <a:p>
            <a:endParaRPr lang="en-GB" sz="3000" dirty="0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7B414F8A-79C4-C863-263A-27B7E1E2D63B}"/>
              </a:ext>
            </a:extLst>
          </p:cNvPr>
          <p:cNvSpPr txBox="1">
            <a:spLocks/>
          </p:cNvSpPr>
          <p:nvPr/>
        </p:nvSpPr>
        <p:spPr>
          <a:xfrm>
            <a:off x="20913524" y="15460727"/>
            <a:ext cx="8279998" cy="1280685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indent="0" algn="l" defTabSz="2851191" rtl="0" eaLnBrk="1" latinLnBrk="0" hangingPunct="1">
              <a:lnSpc>
                <a:spcPct val="100000"/>
              </a:lnSpc>
              <a:spcBef>
                <a:spcPts val="3118"/>
              </a:spcBef>
              <a:buFont typeface="Arial" panose="020B0604020202020204" pitchFamily="34" charset="0"/>
              <a:buNone/>
              <a:defRPr sz="2400" b="0" kern="1200">
                <a:solidFill>
                  <a:srgbClr val="17427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138393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74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63988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62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989584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15179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40774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266370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691965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117560" indent="-712798" algn="l" defTabSz="2851191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56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At a population level, these results suggest that functional limitations play a more important role in shaping care needs in later life than age or social characteristics. </a:t>
            </a:r>
            <a:r>
              <a:rPr lang="en-US" sz="2100" dirty="0"/>
              <a:t>Reduced functional ability appears to underlie reliance on informal or formal support, </a:t>
            </a:r>
            <a:r>
              <a:rPr lang="en-US" sz="2000" dirty="0"/>
              <a:t>highlighting mobility loss as a key mechanism linking ageing to care receipt.</a:t>
            </a:r>
            <a:endParaRPr lang="en-US" sz="2100" dirty="0"/>
          </a:p>
          <a:p>
            <a:r>
              <a:rPr lang="en-US" sz="2100" dirty="0"/>
              <a:t>While predictions reflect robust population-level patterns, uncertainty remains due to survey non-response and unobserved factors, limiting individual-level use. The findings nonetheless highlight the value of interventions that delay or prevent functional decline, with longitudinal data offering a clear direction for future work.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DDE1704-DC39-379A-FF62-2792C4754F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Predicting Receipt of Care Among Older Adults Using the English Longitudinal Study of Ageing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4DEFB08-8A0E-7CEC-D468-16435FB994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Insights into Health, Mobility, and Support Needs in Later Life</a:t>
            </a:r>
          </a:p>
          <a:p>
            <a:r>
              <a:rPr lang="en-US" dirty="0"/>
              <a:t>Kimberly Peever</a:t>
            </a:r>
          </a:p>
        </p:txBody>
      </p:sp>
      <p:pic>
        <p:nvPicPr>
          <p:cNvPr id="11" name="Picture 10" descr="A graph of missingness by predictor domain&#10;&#10;AI-generated content may be incorrect.">
            <a:extLst>
              <a:ext uri="{FF2B5EF4-FFF2-40B4-BE49-F238E27FC236}">
                <a16:creationId xmlns:a16="http://schemas.microsoft.com/office/drawing/2014/main" id="{8EA6D7F2-677D-08B7-14A6-D9F8A1DFD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097" y="14783063"/>
            <a:ext cx="5572396" cy="3683448"/>
          </a:xfrm>
          <a:prstGeom prst="rect">
            <a:avLst/>
          </a:prstGeom>
        </p:spPr>
      </p:pic>
      <p:pic>
        <p:nvPicPr>
          <p:cNvPr id="18" name="Picture 17" descr="A graph of a positive rate&#10;&#10;AI-generated content may be incorrect.">
            <a:extLst>
              <a:ext uri="{FF2B5EF4-FFF2-40B4-BE49-F238E27FC236}">
                <a16:creationId xmlns:a16="http://schemas.microsoft.com/office/drawing/2014/main" id="{31EADDBD-1F14-B3B1-4C0D-422D673AAE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4542" y="13683350"/>
            <a:ext cx="3259592" cy="3058062"/>
          </a:xfrm>
          <a:prstGeom prst="rect">
            <a:avLst/>
          </a:prstGeom>
        </p:spPr>
      </p:pic>
      <p:pic>
        <p:nvPicPr>
          <p:cNvPr id="23" name="Picture 22" descr="A graph of a bar graph&#10;&#10;AI-generated content may be incorrect.">
            <a:extLst>
              <a:ext uri="{FF2B5EF4-FFF2-40B4-BE49-F238E27FC236}">
                <a16:creationId xmlns:a16="http://schemas.microsoft.com/office/drawing/2014/main" id="{13AF7DE6-A90C-2457-BC43-0E694853CC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58283" y="5978834"/>
            <a:ext cx="4050033" cy="2437886"/>
          </a:xfrm>
          <a:prstGeom prst="rect">
            <a:avLst/>
          </a:prstGeom>
        </p:spPr>
      </p:pic>
      <p:pic>
        <p:nvPicPr>
          <p:cNvPr id="25" name="Picture 24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737929B0-DC71-A5E5-72D9-23BF68113B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37605" y="13683350"/>
            <a:ext cx="3259592" cy="2941437"/>
          </a:xfrm>
          <a:prstGeom prst="rect">
            <a:avLst/>
          </a:prstGeom>
        </p:spPr>
      </p:pic>
      <p:pic>
        <p:nvPicPr>
          <p:cNvPr id="32" name="Picture 31" descr="A graph with a line&#10;&#10;AI-generated content may be incorrect.">
            <a:extLst>
              <a:ext uri="{FF2B5EF4-FFF2-40B4-BE49-F238E27FC236}">
                <a16:creationId xmlns:a16="http://schemas.microsoft.com/office/drawing/2014/main" id="{76F54EF7-171C-F2D7-DB36-8CA9922559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65903" y="9085660"/>
            <a:ext cx="8279999" cy="287364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D636135-24D6-B6B4-EE1F-DED597BF31D0}"/>
              </a:ext>
            </a:extLst>
          </p:cNvPr>
          <p:cNvSpPr txBox="1"/>
          <p:nvPr/>
        </p:nvSpPr>
        <p:spPr>
          <a:xfrm>
            <a:off x="6846933" y="14772295"/>
            <a:ext cx="2556128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rgbClr val="1742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patterns informed the modelling strategy, motivating the use of class-weighted models and the inclusion of explicit missingness indicators rather than assuming data were missing at random.</a:t>
            </a:r>
          </a:p>
          <a:p>
            <a:endParaRPr lang="en-CA" sz="2100" dirty="0">
              <a:solidFill>
                <a:srgbClr val="17427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Picture 34" descr="A graph of a number of imbalanced individuals&#10;&#10;AI-generated content may be incorrect.">
            <a:extLst>
              <a:ext uri="{FF2B5EF4-FFF2-40B4-BE49-F238E27FC236}">
                <a16:creationId xmlns:a16="http://schemas.microsoft.com/office/drawing/2014/main" id="{F18B380C-A5B7-EB5F-D824-4DBBC499AC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15869" y="7675802"/>
            <a:ext cx="3243167" cy="324316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B4F5A72-1BC4-1ACB-8B56-F50CF1C290E2}"/>
              </a:ext>
            </a:extLst>
          </p:cNvPr>
          <p:cNvSpPr txBox="1"/>
          <p:nvPr/>
        </p:nvSpPr>
        <p:spPr>
          <a:xfrm>
            <a:off x="10997606" y="8198783"/>
            <a:ext cx="46636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100" dirty="0">
                <a:solidFill>
                  <a:srgbClr val="1742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Cross-validation guided hyperparameter tuning</a:t>
            </a:r>
            <a:r>
              <a:rPr lang="en-US" sz="2100" dirty="0">
                <a:solidFill>
                  <a:srgbClr val="1742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performance was evaluated on a held-out test set. Class imbalance was addressed through class-weighted estimation, with evaluation focused on discrimination and calibration, rather than accuracy alone.</a:t>
            </a:r>
          </a:p>
          <a:p>
            <a:endParaRPr lang="en-CA" sz="2100" dirty="0">
              <a:solidFill>
                <a:srgbClr val="17427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F21FAE-7BFD-18FF-E0B7-69FE076CEE73}"/>
              </a:ext>
            </a:extLst>
          </p:cNvPr>
          <p:cNvSpPr txBox="1"/>
          <p:nvPr/>
        </p:nvSpPr>
        <p:spPr>
          <a:xfrm>
            <a:off x="20972446" y="6416103"/>
            <a:ext cx="363544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rgbClr val="1742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outputs indicate that functional ability contributes more strongly to predicted care receipt than age, consistent with prior work on disability and ageing(e.g. Katz et al., 1963).</a:t>
            </a:r>
          </a:p>
          <a:p>
            <a:endParaRPr lang="en-CA" sz="2100" dirty="0">
              <a:solidFill>
                <a:srgbClr val="17427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CDBDCD-14EF-8B09-CDF2-145F624662DD}"/>
              </a:ext>
            </a:extLst>
          </p:cNvPr>
          <p:cNvSpPr txBox="1"/>
          <p:nvPr/>
        </p:nvSpPr>
        <p:spPr>
          <a:xfrm>
            <a:off x="10997606" y="12862649"/>
            <a:ext cx="84840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1742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3b. </a:t>
            </a:r>
            <a:r>
              <a:rPr lang="en-US" sz="3200" b="1" dirty="0">
                <a:solidFill>
                  <a:srgbClr val="1742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evaluation on a held-out test set</a:t>
            </a:r>
            <a:endParaRPr lang="en-CA" sz="3200" b="1" dirty="0">
              <a:solidFill>
                <a:srgbClr val="17427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769C55-5E0F-5375-C45E-8D089E59A401}"/>
              </a:ext>
            </a:extLst>
          </p:cNvPr>
          <p:cNvSpPr txBox="1"/>
          <p:nvPr/>
        </p:nvSpPr>
        <p:spPr>
          <a:xfrm>
            <a:off x="10997606" y="17893918"/>
            <a:ext cx="827999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rgbClr val="1742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model was evaluated on a held-out test set, with discrimination and classification outcomes shown to assess population-level predictive ability rather than individual decision-making.</a:t>
            </a:r>
            <a:endParaRPr lang="en-CA" sz="2100" dirty="0">
              <a:solidFill>
                <a:srgbClr val="17427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12F9B1-A131-F9FB-2DA1-D7CE56A19D75}"/>
              </a:ext>
            </a:extLst>
          </p:cNvPr>
          <p:cNvSpPr txBox="1"/>
          <p:nvPr/>
        </p:nvSpPr>
        <p:spPr>
          <a:xfrm>
            <a:off x="1129310" y="18303192"/>
            <a:ext cx="5572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742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 1. Proportion of missing values varies systematically by predictor domain.</a:t>
            </a:r>
            <a:endParaRPr lang="en-CA" dirty="0">
              <a:solidFill>
                <a:srgbClr val="17427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64EC498-4922-2C86-44CB-A818C3C3DFA7}"/>
              </a:ext>
            </a:extLst>
          </p:cNvPr>
          <p:cNvSpPr txBox="1"/>
          <p:nvPr/>
        </p:nvSpPr>
        <p:spPr>
          <a:xfrm>
            <a:off x="16112788" y="10881208"/>
            <a:ext cx="2945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1742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 2. </a:t>
            </a:r>
            <a:r>
              <a:rPr lang="en-US" dirty="0">
                <a:solidFill>
                  <a:srgbClr val="1742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of the binary outcome.</a:t>
            </a:r>
            <a:endParaRPr lang="en-CA" dirty="0">
              <a:solidFill>
                <a:srgbClr val="17427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026CB8-D8B7-5CBC-3C3E-BD06C805F4EC}"/>
              </a:ext>
            </a:extLst>
          </p:cNvPr>
          <p:cNvSpPr txBox="1"/>
          <p:nvPr/>
        </p:nvSpPr>
        <p:spPr>
          <a:xfrm>
            <a:off x="11355777" y="16801509"/>
            <a:ext cx="37818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1742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 3. </a:t>
            </a:r>
            <a:r>
              <a:rPr lang="en-US" dirty="0">
                <a:solidFill>
                  <a:srgbClr val="1742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Discrimination performance of the model evaluated on unseen data.</a:t>
            </a:r>
            <a:endParaRPr lang="en-CA" dirty="0">
              <a:solidFill>
                <a:srgbClr val="17427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99BCA1-BDAB-15D1-9E91-761823DBB147}"/>
              </a:ext>
            </a:extLst>
          </p:cNvPr>
          <p:cNvSpPr txBox="1"/>
          <p:nvPr/>
        </p:nvSpPr>
        <p:spPr>
          <a:xfrm>
            <a:off x="15495776" y="16741412"/>
            <a:ext cx="3259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742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 4. Classification outcomes on the held-out test set,</a:t>
            </a:r>
            <a:endParaRPr lang="en-CA" dirty="0">
              <a:solidFill>
                <a:srgbClr val="17427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45582E-C48F-CA11-8B02-B1E18FF8232E}"/>
              </a:ext>
            </a:extLst>
          </p:cNvPr>
          <p:cNvSpPr txBox="1"/>
          <p:nvPr/>
        </p:nvSpPr>
        <p:spPr>
          <a:xfrm>
            <a:off x="25017205" y="8439329"/>
            <a:ext cx="4191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1742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 5. </a:t>
            </a:r>
            <a:r>
              <a:rPr lang="en-US" dirty="0">
                <a:solidFill>
                  <a:srgbClr val="1742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Relative contribution of predictor domains to model performance</a:t>
            </a:r>
            <a:endParaRPr lang="en-CA" dirty="0">
              <a:solidFill>
                <a:srgbClr val="17427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568482A-0B90-6C1C-0920-EC6CBD1C3868}"/>
              </a:ext>
            </a:extLst>
          </p:cNvPr>
          <p:cNvSpPr txBox="1"/>
          <p:nvPr/>
        </p:nvSpPr>
        <p:spPr>
          <a:xfrm>
            <a:off x="20865904" y="12034413"/>
            <a:ext cx="8279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1742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 6. </a:t>
            </a:r>
            <a:r>
              <a:rPr lang="en-US" dirty="0">
                <a:solidFill>
                  <a:srgbClr val="1742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Estimated relationships between selected predictors and predicted probability of receiving help, averaged over the population.</a:t>
            </a:r>
            <a:endParaRPr lang="en-CA" dirty="0">
              <a:solidFill>
                <a:srgbClr val="17427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335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83c70b0-cf68-4e73-82c7-db7011e94aa4">
      <Terms xmlns="http://schemas.microsoft.com/office/infopath/2007/PartnerControls"/>
    </lcf76f155ced4ddcb4097134ff3c332f>
    <TaxCatchAll xmlns="4901893b-8057-49d8-9621-34ceed1ef8b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A6DAAFFDA9064DADCF01AA0C258084" ma:contentTypeVersion="14" ma:contentTypeDescription="Create a new document." ma:contentTypeScope="" ma:versionID="fd19ad12c649a1ad6240d8e9b7a634fa">
  <xsd:schema xmlns:xsd="http://www.w3.org/2001/XMLSchema" xmlns:xs="http://www.w3.org/2001/XMLSchema" xmlns:p="http://schemas.microsoft.com/office/2006/metadata/properties" xmlns:ns2="983c70b0-cf68-4e73-82c7-db7011e94aa4" xmlns:ns3="4901893b-8057-49d8-9621-34ceed1ef8bd" targetNamespace="http://schemas.microsoft.com/office/2006/metadata/properties" ma:root="true" ma:fieldsID="04ff09e9fa3d189cd67765af001d126a" ns2:_="" ns3:_="">
    <xsd:import namespace="983c70b0-cf68-4e73-82c7-db7011e94aa4"/>
    <xsd:import namespace="4901893b-8057-49d8-9621-34ceed1ef8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3c70b0-cf68-4e73-82c7-db7011e94a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b3a19cb6-1b10-4512-a12b-f76e45842a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01893b-8057-49d8-9621-34ceed1ef8bd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6bfbeb9-8527-4b62-808a-4ea1eef7a033}" ma:internalName="TaxCatchAll" ma:showField="CatchAllData" ma:web="4901893b-8057-49d8-9621-34ceed1ef8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BFAFB5-D5CE-4129-BA90-E5730C997C78}">
  <ds:schemaRefs>
    <ds:schemaRef ds:uri="http://www.w3.org/XML/1998/namespace"/>
    <ds:schemaRef ds:uri="96be4add-cbd3-4388-ae45-08b1f6ec3dd3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  <ds:schemaRef ds:uri="http://schemas.openxmlformats.org/package/2006/metadata/core-properties"/>
    <ds:schemaRef ds:uri="2594c96d-b754-40e3-8ba4-6eacc55f8546"/>
    <ds:schemaRef ds:uri="http://schemas.microsoft.com/office/2006/metadata/properties"/>
    <ds:schemaRef ds:uri="983c70b0-cf68-4e73-82c7-db7011e94aa4"/>
    <ds:schemaRef ds:uri="4901893b-8057-49d8-9621-34ceed1ef8bd"/>
  </ds:schemaRefs>
</ds:datastoreItem>
</file>

<file path=customXml/itemProps2.xml><?xml version="1.0" encoding="utf-8"?>
<ds:datastoreItem xmlns:ds="http://schemas.openxmlformats.org/officeDocument/2006/customXml" ds:itemID="{11DCA254-5766-4D03-BFDF-88A04B3535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3c70b0-cf68-4e73-82c7-db7011e94aa4"/>
    <ds:schemaRef ds:uri="4901893b-8057-49d8-9621-34ceed1ef8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F804F87-F2BA-4F0B-98CA-A46716E5EF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9419</TotalTime>
  <Words>946</Words>
  <Application>Microsoft Office PowerPoint</Application>
  <PresentationFormat>Custom</PresentationFormat>
  <Paragraphs>52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2013 - 2022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subject/>
  <dc:creator/>
  <cp:keywords/>
  <dc:description/>
  <cp:lastModifiedBy>Kimberly Peever</cp:lastModifiedBy>
  <cp:revision>112</cp:revision>
  <dcterms:created xsi:type="dcterms:W3CDTF">2022-11-03T08:40:22Z</dcterms:created>
  <dcterms:modified xsi:type="dcterms:W3CDTF">2025-12-18T16:38:33Z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0x01010005A6DAAFFDA9064DADCF01AA0C258084</vt:lpwstr>
  </property>
  <property fmtid="{D5CDD505-2E9C-101B-9397-08002B2CF9AE}" pid="3" name="MediaServiceImageTags">
    <vt:lpwstr/>
  </property>
</Properties>
</file>